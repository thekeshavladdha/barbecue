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73" r:id="rId20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Sheet1!$A$2:$A$6</c:f>
              <c:strCache>
                <c:ptCount val="5"/>
                <c:pt idx="0">
                  <c:v>Squat good</c:v>
                </c:pt>
                <c:pt idx="1">
                  <c:v>Squat shallow</c:v>
                </c:pt>
                <c:pt idx="2">
                  <c:v>Push-up</c:v>
                </c:pt>
                <c:pt idx="3">
                  <c:v>Curl</c:v>
                </c:pt>
                <c:pt idx="4">
                  <c:v>Press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87.5</c:v>
                </c:pt>
                <c:pt idx="2">
                  <c:v>90</c:v>
                </c:pt>
                <c:pt idx="3">
                  <c:v>100</c:v>
                </c:pt>
                <c:pt idx="4">
                  <c:v>87.5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843C0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8CBAD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>
          <c:spPr>
            <a:ln>
              <a:solidFill>
                <a:srgbClr val="F8CBA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5A4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A2314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Round back</c:v>
                </c:pt>
                <c:pt idx="1">
                  <c:v>Knees fwd</c:v>
                </c:pt>
                <c:pt idx="2">
                  <c:v>Hip sag</c:v>
                </c:pt>
                <c:pt idx="3">
                  <c:v>Back swing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87.5</c:v>
                </c:pt>
                <c:pt idx="2">
                  <c:v>80</c:v>
                </c:pt>
                <c:pt idx="3">
                  <c:v>88.9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843C0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8CBAD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>
          <c:spPr>
            <a:ln>
              <a:solidFill>
                <a:srgbClr val="F8CBA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5A4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A2314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Sheet1!$A$2:$A$6</c:f>
              <c:strCache>
                <c:ptCount val="5"/>
                <c:pt idx="0">
                  <c:v>MP Lite</c:v>
                </c:pt>
                <c:pt idx="1">
                  <c:v>MP Full</c:v>
                </c:pt>
                <c:pt idx="2">
                  <c:v>MP Heavy</c:v>
                </c:pt>
                <c:pt idx="3">
                  <c:v>YOLO11n</c:v>
                </c:pt>
                <c:pt idx="4">
                  <c:v>RTMPose-s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30</c:v>
                </c:pt>
                <c:pt idx="2">
                  <c:v>17</c:v>
                </c:pt>
                <c:pt idx="3">
                  <c:v>22</c:v>
                </c:pt>
                <c:pt idx="4">
                  <c:v>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843C0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8CBAD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F8CBA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5A4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A2314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4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6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6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6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Content Placeholder 2"/>
          <p:cNvSpPr>
            <a:spLocks noGrp="1"/>
          </p:cNvSpPr>
          <p:nvPr>
            <p:ph idx="1"/>
          </p:nvPr>
        </p:nvSpPr>
        <p:spPr>
          <a:xfrm>
            <a:off x="355600" y="1253331"/>
            <a:ext cx="10515600" cy="4351338"/>
          </a:xfrm>
        </p:spPr>
        <p:txBody>
          <a:bodyPr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1048582" name="Date Placeholder 3"/>
          <p:cNvSpPr>
            <a:spLocks noGrp="1"/>
          </p:cNvSpPr>
          <p:nvPr>
            <p:ph type="dt" sz="half" idx="10"/>
          </p:nvPr>
        </p:nvSpPr>
        <p:spPr>
          <a:xfrm>
            <a:off x="635000" y="6421835"/>
            <a:ext cx="2743200" cy="365125"/>
          </a:xfrm>
        </p:spPr>
        <p:txBody>
          <a:bodyPr/>
          <a:p>
            <a:endParaRPr lang="en-US"/>
          </a:p>
        </p:txBody>
      </p:sp>
      <p:sp>
        <p:nvSpPr>
          <p:cNvPr id="104858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1400" y="6435527"/>
            <a:ext cx="49149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104858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99500" y="6421834"/>
            <a:ext cx="2743200" cy="365125"/>
          </a:xfrm>
        </p:spPr>
        <p:txBody>
          <a:bodyPr/>
          <a:p>
            <a:fld id="{BC58B3AD-D297-1047-9FAD-E399140930C8}" type="slidenum">
              <a:rPr lang="en-US" smtClean="0"/>
              <a:t>‹#›</a:t>
            </a:fld>
            <a:endParaRPr dirty="0" lang="en-US"/>
          </a:p>
        </p:txBody>
      </p:sp>
      <p:pic>
        <p:nvPicPr>
          <p:cNvPr id="2097152" name="Picture 6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2048256" cy="682752"/>
          </a:xfrm>
          <a:prstGeom prst="rect"/>
        </p:spPr>
      </p:pic>
      <p:cxnSp>
        <p:nvCxnSpPr>
          <p:cNvPr id="3145728" name="Straight Connector 10"/>
          <p:cNvCxnSpPr>
            <a:cxnSpLocks/>
          </p:cNvCxnSpPr>
          <p:nvPr userDrawn="1"/>
        </p:nvCxnSpPr>
        <p:spPr>
          <a:xfrm>
            <a:off x="0" y="6409134"/>
            <a:ext cx="12192000" cy="0"/>
          </a:xfrm>
          <a:prstGeom prst="line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8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1</a:t>
            </a:fld>
            <a:endParaRPr dirty="0" lang="en-US"/>
          </a:p>
        </p:txBody>
      </p:sp>
      <p:sp>
        <p:nvSpPr>
          <p:cNvPr id="1048587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pic>
        <p:nvPicPr>
          <p:cNvPr id="2097153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096000" y="154196"/>
            <a:ext cx="2133600" cy="1903686"/>
          </a:xfrm>
          <a:prstGeom prst="rect"/>
        </p:spPr>
      </p:pic>
      <p:sp>
        <p:nvSpPr>
          <p:cNvPr id="1048588" name="Rectangle 11"/>
          <p:cNvSpPr/>
          <p:nvPr/>
        </p:nvSpPr>
        <p:spPr>
          <a:xfrm>
            <a:off x="2133600" y="2919715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000" lang="en-US">
                <a:latin typeface="Garamond" panose="02020404030301010803" pitchFamily="18" charset="0"/>
                <a:cs typeface="Times New Roman" pitchFamily="18" charset="0"/>
              </a:rPr>
              <a:t>BARBECUE – LIVE POSTURE DETECTION AND REP COUNTER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89" name="TextBox 1"/>
          <p:cNvSpPr txBox="1"/>
          <p:nvPr/>
        </p:nvSpPr>
        <p:spPr>
          <a:xfrm>
            <a:off x="2383574" y="4278955"/>
            <a:ext cx="2471761" cy="169164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PRESENTED BY :</a:t>
            </a:r>
          </a:p>
          <a:p>
            <a:r>
              <a:rPr dirty="0" lang="en-US"/>
              <a:t>Student Name (Roll No.)</a:t>
            </a:r>
          </a:p>
          <a:p>
            <a:r>
              <a:rPr dirty="0" lang="en-US"/>
              <a:t>Student Name (Roll No.)</a:t>
            </a:r>
          </a:p>
          <a:p>
            <a:r>
              <a:rPr dirty="0" lang="en-US"/>
              <a:t>Student Name (Roll No.)</a:t>
            </a:r>
          </a:p>
          <a:p>
            <a:r>
              <a:rPr dirty="0" lang="en-US"/>
              <a:t>Student Name (Roll No.)</a:t>
            </a:r>
          </a:p>
        </p:txBody>
      </p:sp>
      <p:sp>
        <p:nvSpPr>
          <p:cNvPr id="1048590" name="TextBox 13"/>
          <p:cNvSpPr txBox="1"/>
          <p:nvPr/>
        </p:nvSpPr>
        <p:spPr>
          <a:xfrm>
            <a:off x="8937937" y="4203673"/>
            <a:ext cx="2779689" cy="2225040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/>
              <a:t>UNDER SUPERVISION OF  :</a:t>
            </a:r>
          </a:p>
          <a:p>
            <a:r>
              <a:rPr dirty="0" lang="en-US"/>
              <a:t>Dr. / Mr. / Ms. Supervisor Name</a:t>
            </a:r>
          </a:p>
          <a:p>
            <a:r>
              <a:rPr dirty="0" lang="en-US"/>
              <a:t>Designation of Supervisor</a:t>
            </a:r>
          </a:p>
          <a:p>
            <a:r>
              <a:rPr dirty="0" lang="en-US"/>
              <a:t>CSE-AIML, GLBITM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6186152" y="2304132"/>
            <a:ext cx="2326783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i="1" lang="en-US"/>
              <a:t>SESSION 2026-2027</a:t>
            </a:r>
            <a:endParaRPr b="1" dirty="0" i="1" lang="en-IN"/>
          </a:p>
        </p:txBody>
      </p:sp>
      <p:sp>
        <p:nvSpPr>
          <p:cNvPr id="2097154" name="Tagline"/>
          <p:cNvSpPr txBox="1"/>
          <p:nvPr/>
        </p:nvSpPr>
        <p:spPr>
          <a:xfrm>
            <a:off x="2286000" y="5760720"/>
            <a:ext cx="9692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843C0C"/>
                </a:solidFill>
              </a:rPr>
              <a:t>Bar</a:t>
            </a:r>
            <a:r>
              <a:rPr sz="1600" b="0" i="0">
                <a:solidFill>
                  <a:srgbClr val="6B5A4E"/>
                </a:solidFill>
              </a:rPr>
              <a:t> = Barbell   ·   </a:t>
            </a:r>
            <a:r>
              <a:rPr sz="1600" b="1" i="0">
                <a:solidFill>
                  <a:srgbClr val="843C0C"/>
                </a:solidFill>
              </a:rPr>
              <a:t>Cue</a:t>
            </a:r>
            <a:r>
              <a:rPr sz="1600" b="0" i="0">
                <a:solidFill>
                  <a:srgbClr val="6B5A4E"/>
                </a:solidFill>
              </a:rPr>
              <a:t> = Reminding &amp; Coaching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18</a:t>
            </a:fld>
            <a:endParaRPr dirty="0" lang="en-US"/>
          </a:p>
        </p:txBody>
      </p:sp>
      <p:sp>
        <p:nvSpPr>
          <p:cNvPr id="1048679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680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sz="2400" b="1"/>
              <a:t>BARBECUE – LIVE POSTURE DETECTION AND REP COUNTER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681" name="Rectangle 2"/>
          <p:cNvSpPr/>
          <p:nvPr/>
        </p:nvSpPr>
        <p:spPr>
          <a:xfrm>
            <a:off x="5752734" y="2825449"/>
            <a:ext cx="3033732" cy="815341"/>
          </a:xfrm>
          <a:prstGeom prst="rect"/>
        </p:spPr>
        <p:txBody>
          <a:bodyPr wrap="none">
            <a:spAutoFit/>
          </a:bodyPr>
          <a:p>
            <a:r>
              <a:rPr b="1" dirty="0" sz="4800" lang="en-US"/>
              <a:t>Thank You</a:t>
            </a:r>
            <a:endParaRPr b="1" dirty="0" sz="4800" lang="en-IN"/>
          </a:p>
        </p:txBody>
      </p:sp>
      <p:sp>
        <p:nvSpPr>
          <p:cNvPr id="104868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683" name="Subtitle"/>
          <p:cNvSpPr txBox="1"/>
          <p:nvPr/>
        </p:nvSpPr>
        <p:spPr>
          <a:xfrm>
            <a:off x="2926080" y="3657600"/>
            <a:ext cx="8778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1">
                <a:solidFill>
                  <a:srgbClr val="843C0C"/>
                </a:solidFill>
              </a:rPr>
              <a:t>Questions and discussion are welcome</a:t>
            </a:r>
          </a:p>
        </p:txBody>
      </p:sp>
      <p:pic>
        <p:nvPicPr>
          <p:cNvPr id="1048684" name="Icon" descr="i_FaDumbbell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572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INTRODUCTION OF THE PROJECT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NameCard"/>
          <p:cNvSpPr/>
          <p:nvPr/>
        </p:nvSpPr>
        <p:spPr>
          <a:xfrm>
            <a:off x="2423160" y="1005840"/>
            <a:ext cx="5532120" cy="960120"/>
          </a:xfrm>
          <a:prstGeom prst="roundRect">
            <a:avLst>
              <a:gd name="adj" fmla="val 12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Name"/>
          <p:cNvSpPr txBox="1"/>
          <p:nvPr/>
        </p:nvSpPr>
        <p:spPr>
          <a:xfrm>
            <a:off x="2606040" y="1051560"/>
            <a:ext cx="52120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</a:rPr>
              <a:t>BarBeCue</a:t>
            </a:r>
          </a:p>
        </p:txBody>
      </p:sp>
      <p:sp>
        <p:nvSpPr>
          <p:cNvPr id="1048599" name="Subtitle"/>
          <p:cNvSpPr txBox="1"/>
          <p:nvPr/>
        </p:nvSpPr>
        <p:spPr>
          <a:xfrm>
            <a:off x="2606040" y="153619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F8CBAD"/>
                </a:solidFill>
              </a:rPr>
              <a:t>Live Posture Detection and Rep Counter</a:t>
            </a:r>
          </a:p>
        </p:txBody>
      </p:sp>
      <p:sp>
        <p:nvSpPr>
          <p:cNvPr id="1048600" name="Definition"/>
          <p:cNvSpPr txBox="1"/>
          <p:nvPr/>
        </p:nvSpPr>
        <p:spPr>
          <a:xfrm>
            <a:off x="2423160" y="2148840"/>
            <a:ext cx="553212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A2314"/>
                </a:solidFill>
              </a:rPr>
              <a:t>BarBeCue is a real-time computer-vision fitness coach. It watches one user through a standard laptop webcam, estimates body pose with a pre-trained model, converts joints into biomechanical angles, checks posture against per-exercise rules and counts repetitions with a hysteresis state machine.</a:t>
            </a:r>
          </a:p>
        </p:txBody>
      </p:sp>
      <p:sp>
        <p:nvSpPr>
          <p:cNvPr id="1048601" name="Foundations"/>
          <p:cNvSpPr txBox="1"/>
          <p:nvPr/>
        </p:nvSpPr>
        <p:spPr>
          <a:xfrm>
            <a:off x="2423160" y="3794760"/>
            <a:ext cx="55321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843C0C"/>
                </a:solidFill>
              </a:rPr>
              <a:t>Foundation: </a:t>
            </a:r>
            <a:r>
              <a:rPr sz="1400" b="0" i="0">
                <a:solidFill>
                  <a:srgbClr val="3A2314"/>
                </a:solidFill>
              </a:rPr>
              <a:t>pose estimation → angle geometry → smoothing → rules and rep logic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843C0C"/>
                </a:solidFill>
              </a:rPr>
              <a:t>Runs fully on a laptop CPU: </a:t>
            </a:r>
            <a:r>
              <a:rPr sz="1400" b="0" i="0">
                <a:solidFill>
                  <a:srgbClr val="3A2314"/>
                </a:solidFill>
              </a:rPr>
              <a:t>no GPU and no model training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843C0C"/>
                </a:solidFill>
              </a:rPr>
              <a:t>Private by design: </a:t>
            </a:r>
            <a:r>
              <a:rPr sz="1400" b="0" i="0">
                <a:solidFill>
                  <a:srgbClr val="3A2314"/>
                </a:solidFill>
              </a:rPr>
              <a:t>video stays on device; hints are general fitness guidance</a:t>
            </a:r>
          </a:p>
        </p:txBody>
      </p:sp>
      <p:sp>
        <p:nvSpPr>
          <p:cNvPr id="1048602" name="Stat"/>
          <p:cNvSpPr/>
          <p:nvPr/>
        </p:nvSpPr>
        <p:spPr>
          <a:xfrm>
            <a:off x="2423160" y="5257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3" name="StatNum"/>
          <p:cNvSpPr txBox="1"/>
          <p:nvPr/>
        </p:nvSpPr>
        <p:spPr>
          <a:xfrm>
            <a:off x="2423160" y="5285232"/>
            <a:ext cx="1737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C55A11"/>
                </a:solidFill>
              </a:rPr>
              <a:t>33</a:t>
            </a:r>
          </a:p>
        </p:txBody>
      </p:sp>
      <p:sp>
        <p:nvSpPr>
          <p:cNvPr id="1048604" name="StatLabel"/>
          <p:cNvSpPr txBox="1"/>
          <p:nvPr/>
        </p:nvSpPr>
        <p:spPr>
          <a:xfrm>
            <a:off x="2423160" y="5788152"/>
            <a:ext cx="1737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pose landmarks</a:t>
            </a:r>
          </a:p>
        </p:txBody>
      </p:sp>
      <p:sp>
        <p:nvSpPr>
          <p:cNvPr id="1048605" name="Stat"/>
          <p:cNvSpPr/>
          <p:nvPr/>
        </p:nvSpPr>
        <p:spPr>
          <a:xfrm>
            <a:off x="4315968" y="5257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6" name="StatNum"/>
          <p:cNvSpPr txBox="1"/>
          <p:nvPr/>
        </p:nvSpPr>
        <p:spPr>
          <a:xfrm>
            <a:off x="4315968" y="5285232"/>
            <a:ext cx="1737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C55A11"/>
                </a:solidFill>
              </a:rPr>
              <a:t>20–30</a:t>
            </a:r>
          </a:p>
        </p:txBody>
      </p:sp>
      <p:sp>
        <p:nvSpPr>
          <p:cNvPr id="1048607" name="StatLabel"/>
          <p:cNvSpPr txBox="1"/>
          <p:nvPr/>
        </p:nvSpPr>
        <p:spPr>
          <a:xfrm>
            <a:off x="4315968" y="5788152"/>
            <a:ext cx="1737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FPS on CPU</a:t>
            </a:r>
          </a:p>
        </p:txBody>
      </p:sp>
      <p:sp>
        <p:nvSpPr>
          <p:cNvPr id="1048608" name="Stat"/>
          <p:cNvSpPr/>
          <p:nvPr/>
        </p:nvSpPr>
        <p:spPr>
          <a:xfrm>
            <a:off x="6208775" y="525780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9" name="StatNum"/>
          <p:cNvSpPr txBox="1"/>
          <p:nvPr/>
        </p:nvSpPr>
        <p:spPr>
          <a:xfrm>
            <a:off x="6208775" y="5285232"/>
            <a:ext cx="1737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C55A11"/>
                </a:solidFill>
              </a:rPr>
              <a:t>7</a:t>
            </a:r>
          </a:p>
        </p:txBody>
      </p:sp>
      <p:sp>
        <p:nvSpPr>
          <p:cNvPr id="1048610" name="StatLabel"/>
          <p:cNvSpPr txBox="1"/>
          <p:nvPr/>
        </p:nvSpPr>
        <p:spPr>
          <a:xfrm>
            <a:off x="6208775" y="5788152"/>
            <a:ext cx="1737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exercise configs</a:t>
            </a:r>
          </a:p>
        </p:txBody>
      </p:sp>
      <p:pic>
        <p:nvPicPr>
          <p:cNvPr id="1048611" name="HeroIllustration" descr="hero_sq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234440"/>
            <a:ext cx="3657600" cy="3657600"/>
          </a:xfrm>
          <a:prstGeom prst="rect">
            <a:avLst/>
          </a:prstGeom>
        </p:spPr>
      </p:pic>
      <p:sp>
        <p:nvSpPr>
          <p:cNvPr id="1048612" name="Caption"/>
          <p:cNvSpPr txBox="1"/>
          <p:nvPr/>
        </p:nvSpPr>
        <p:spPr>
          <a:xfrm>
            <a:off x="8183879" y="498348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6B5A4E"/>
                </a:solidFill>
              </a:rPr>
              <a:t>Knee angle θ drives squat depth, rep count and form hints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LITERATURE SURVEY (15 papers) – 1/3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graphicFrame>
        <p:nvGraphicFramePr>
          <p:cNvPr id="1048597" name="LiteratureTable"/>
          <p:cNvGraphicFramePr>
            <a:graphicFrameLocks noGrp="1"/>
          </p:cNvGraphicFramePr>
          <p:nvPr/>
        </p:nvGraphicFramePr>
        <p:xfrm>
          <a:off x="2240280" y="960120"/>
          <a:ext cx="9784080" cy="4983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1480"/>
                <a:gridCol w="731520"/>
                <a:gridCol w="457200"/>
                <a:gridCol w="960120"/>
                <a:gridCol w="1188720"/>
                <a:gridCol w="1005840"/>
                <a:gridCol w="1005840"/>
                <a:gridCol w="1325880"/>
                <a:gridCol w="1417320"/>
                <a:gridCol w="12801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S. No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Published in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Conceptual Framework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Future research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Jun 2020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V. Bazarevsky et al.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BlazePose: On-device real-time body pose tracking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CVPR Workshops, pp. 1–8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33-landmark pose tracking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GHUM body fitting; real-time CPU inference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Heel, foot index and visibility enable squat, heel and head checks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2D only; angles depend on camera view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Google MediaPipe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Pose Landmarker guide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Online documentation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Lite, full and heavy pose 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Tasks VIDEO API; image and world coordinates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Full variant with detect_for_video chosen as default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World landmarks for 3D angle 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3.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G. Jocher et al.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Ultralytics pose estimation docs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Online documentation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YOLO-Pose, 17 COCO keypoints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Easy training; workout monitoring solution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Angle-threshold idea reused; AGPL-3.0 copyleft noted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No heel or toe keypoints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4.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T. Jiang et al.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RTMPose: Real-time multi-person pose estimation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arXiv preprint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Multi-person real-time 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ONNX path via rtmlib, no mmcv or mmpose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RTMPose-s used as accuracy-focused comparison backend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Fast-changing library API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5.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Jan 2019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2019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Z. Cao, G. Hidalgo, T. Simon, S. Wei, Y. Sheikh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OpenPose: Realtime multi-person 2D pose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IEEE TPAMI, 43(1), 172–186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Part affinity fields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Bottom-up multi-person 2D pose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Historically key but too slow without GPU for live coaching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Reference only in BarBeCue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48598" name="Takeaway"/>
          <p:cNvSpPr txBox="1"/>
          <p:nvPr/>
        </p:nvSpPr>
        <p:spPr>
          <a:xfrm>
            <a:off x="2240280" y="598932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843C0C"/>
                </a:solidFill>
              </a:rPr>
              <a:t>Focus: </a:t>
            </a:r>
            <a:r>
              <a:rPr sz="1200" b="0" i="0">
                <a:solidFill>
                  <a:srgbClr val="6B5A4E"/>
                </a:solidFill>
              </a:rPr>
              <a:t>reuse a pre-trained pose model, innovate in the geometry, filtering, rules and evaluation layer above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LITERATURE SURVEY (15 papers) – 2/3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graphicFrame>
        <p:nvGraphicFramePr>
          <p:cNvPr id="1048597" name="LiteratureTable"/>
          <p:cNvGraphicFramePr>
            <a:graphicFrameLocks noGrp="1"/>
          </p:cNvGraphicFramePr>
          <p:nvPr/>
        </p:nvGraphicFramePr>
        <p:xfrm>
          <a:off x="2240280" y="960120"/>
          <a:ext cx="9784080" cy="4983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1480"/>
                <a:gridCol w="731520"/>
                <a:gridCol w="457200"/>
                <a:gridCol w="960120"/>
                <a:gridCol w="1188720"/>
                <a:gridCol w="1005840"/>
                <a:gridCol w="1005840"/>
                <a:gridCol w="1325880"/>
                <a:gridCol w="1417320"/>
                <a:gridCol w="12801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S. No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Published in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Conceptual Framework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Future research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6.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TensorFlow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MoveNet Lightning and Thunder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Online documentation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Lightweight pose models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Lightning 4.8 MB, Thunder 12.6 MB (FP16)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Thunder 72.0 AP, Lightning 63.0 AP; light fallback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Browser and mobile path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7.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Sep 2014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T. Lin et al.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Microsoft COCO: Common objects in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ECCV, pp. 740–755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COCO keypoint dataset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Defines the 17-point skeleton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No heel or toe, so knee over toe stays zero on 17-point 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Richer foot keypoints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8.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Jun 2014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2014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M. Andriluka, L. Pishchulin, P. Gehler, B. Schiele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2D human pose estimation: New benchmark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CVPR, pp. 3686–3693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MPII Human Pose benchmark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About 25,000 images of everyday and sports poses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Diversity supports generalisation to home workouts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Fitness-specific labels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9.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May 2012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G. Casiez, N. Roussel, D. Vogel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 Euro filter: Speed-based low-pass filter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CHI, pp. 2527–2530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Adaptive noise filtering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Smooths slow motion, follows fast motion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EMA by default; upgrade to 1 Euro if flicker persists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Parameter tuning per user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10.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OpenMMLab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rtmlib: Lightweight RTMPose inference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GitHub repository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Dependency-light RTMPose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Performance, balanced, lightweight modes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Follow README signature as library evolves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API stability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48598" name="Takeaway"/>
          <p:cNvSpPr txBox="1"/>
          <p:nvPr/>
        </p:nvSpPr>
        <p:spPr>
          <a:xfrm>
            <a:off x="2240280" y="598932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843C0C"/>
                </a:solidFill>
              </a:rPr>
              <a:t>Focus: </a:t>
            </a:r>
            <a:r>
              <a:rPr sz="1200" b="0" i="0">
                <a:solidFill>
                  <a:srgbClr val="6B5A4E"/>
                </a:solidFill>
              </a:rPr>
              <a:t>reuse a pre-trained pose model, innovate in the geometry, filtering, rules and evaluation layer above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LITERATURE SURVEY (15 papers) – 3/3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graphicFrame>
        <p:nvGraphicFramePr>
          <p:cNvPr id="1048597" name="LiteratureTable"/>
          <p:cNvGraphicFramePr>
            <a:graphicFrameLocks noGrp="1"/>
          </p:cNvGraphicFramePr>
          <p:nvPr/>
        </p:nvGraphicFramePr>
        <p:xfrm>
          <a:off x="2240280" y="960120"/>
          <a:ext cx="9784080" cy="4983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1480"/>
                <a:gridCol w="731520"/>
                <a:gridCol w="457200"/>
                <a:gridCol w="960120"/>
                <a:gridCol w="1188720"/>
                <a:gridCol w="1005840"/>
                <a:gridCol w="1005840"/>
                <a:gridCol w="1325880"/>
                <a:gridCol w="1417320"/>
                <a:gridCol w="12801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S. No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Published in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Conceptual Framework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Future research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11.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Community repositories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AI personal trainer OpenCV and MediaPipe squat counters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GitHub search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Angle-threshold counting pattern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Single-exercise demo code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Many lack hysteresis, debouncing and evaluation: the gap BarBeCue fills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Stability and evaluation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12.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Ultralytics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Workout monitoring solution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Online solution guide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Rep counting from keypoint angles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Push-up, pull-up and squat counting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Generalised to 7 configs with unified EXERCISES dict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Hold mode, more exercises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13.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Fit3D and Human3.6M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3D fitness and motion capture datasets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Dataset references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3D biomechanics reference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3D motion capture for comparison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Cited for future 3D angle work; BarBeCue stays 2D on CPU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3D angle estimation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14.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Y. Xu et al.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ViTPose and HRNet studies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Conference papers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High-accuracy pose estimation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Heavy models with high compute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Used as offline accuracy anchors, not live backends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Efficient high-accuracy 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15.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Accessed 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Kaggle contributors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Exercise video sets: squat, push-up, curl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Kaggle datasets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Short labelled exercise clips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Public clips for smoke tests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Own recordings preferred for matched camera and room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Licence checks per clip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48598" name="Takeaway"/>
          <p:cNvSpPr txBox="1"/>
          <p:nvPr/>
        </p:nvSpPr>
        <p:spPr>
          <a:xfrm>
            <a:off x="2240280" y="598932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843C0C"/>
                </a:solidFill>
              </a:rPr>
              <a:t>Focus: </a:t>
            </a:r>
            <a:r>
              <a:rPr sz="1200" b="0" i="0">
                <a:solidFill>
                  <a:srgbClr val="6B5A4E"/>
                </a:solidFill>
              </a:rPr>
              <a:t>reuse a pre-trained pose model, innovate in the geometry, filtering, rules and evaluation layer above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EXISTING SYSTEM/RELATED WORK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BaseCard"/>
          <p:cNvSpPr/>
          <p:nvPr/>
        </p:nvSpPr>
        <p:spPr>
          <a:xfrm>
            <a:off x="2423160" y="960120"/>
            <a:ext cx="4617720" cy="19659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SectionHead"/>
          <p:cNvSpPr/>
          <p:nvPr/>
        </p:nvSpPr>
        <p:spPr>
          <a:xfrm>
            <a:off x="2560320" y="1051560"/>
            <a:ext cx="4343400" cy="384048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Base work at present</a:t>
            </a:r>
          </a:p>
        </p:txBody>
      </p:sp>
      <p:pic>
        <p:nvPicPr>
          <p:cNvPr id="1048599" name="Icon" descr="i_FaCub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124712"/>
            <a:ext cx="237744" cy="237744"/>
          </a:xfrm>
          <a:prstGeom prst="rect">
            <a:avLst/>
          </a:prstGeom>
        </p:spPr>
      </p:pic>
      <p:sp>
        <p:nvSpPr>
          <p:cNvPr id="1048600" name="BaseText"/>
          <p:cNvSpPr txBox="1"/>
          <p:nvPr/>
        </p:nvSpPr>
        <p:spPr>
          <a:xfrm>
            <a:off x="2560320" y="1508760"/>
            <a:ext cx="4389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3A2314"/>
                </a:solidFill>
              </a:rPr>
              <a:t>Angle-threshold rep counting from community AI-trainer repos (OpenCV + MediaPipe)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3A2314"/>
                </a:solidFill>
              </a:rPr>
              <a:t>Ultralytics workout monitoring: squat, push-up, pull-up from keypoint angles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3A2314"/>
                </a:solidFill>
              </a:rPr>
              <a:t>Pre-trained pose models reused, no training from scratch</a:t>
            </a:r>
          </a:p>
        </p:txBody>
      </p:sp>
      <p:sp>
        <p:nvSpPr>
          <p:cNvPr id="1048601" name="GapCard"/>
          <p:cNvSpPr/>
          <p:nvPr/>
        </p:nvSpPr>
        <p:spPr>
          <a:xfrm>
            <a:off x="7269480" y="960120"/>
            <a:ext cx="4617720" cy="19659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ectionHead"/>
          <p:cNvSpPr/>
          <p:nvPr/>
        </p:nvSpPr>
        <p:spPr>
          <a:xfrm>
            <a:off x="7406640" y="1051560"/>
            <a:ext cx="4343400" cy="3840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Gap addressed by BarBeCue</a:t>
            </a:r>
          </a:p>
        </p:txBody>
      </p:sp>
      <p:pic>
        <p:nvPicPr>
          <p:cNvPr id="1048603" name="Icon" descr="i_FaExclamationTriang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1124712"/>
            <a:ext cx="237744" cy="237744"/>
          </a:xfrm>
          <a:prstGeom prst="rect">
            <a:avLst/>
          </a:prstGeom>
        </p:spPr>
      </p:pic>
      <p:sp>
        <p:nvSpPr>
          <p:cNvPr id="1048604" name="GapText"/>
          <p:cNvSpPr txBox="1"/>
          <p:nvPr/>
        </p:nvSpPr>
        <p:spPr>
          <a:xfrm>
            <a:off x="7406640" y="1508760"/>
            <a:ext cx="4389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3A2314"/>
                </a:solidFill>
              </a:rPr>
              <a:t>Mostly single-exercise demos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3A2314"/>
                </a:solidFill>
              </a:rPr>
              <a:t>No hysteresis, debouncing or visibility gating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3A2314"/>
                </a:solidFill>
              </a:rPr>
              <a:t>No offline evaluation or backend comparison</a:t>
            </a:r>
          </a:p>
        </p:txBody>
      </p:sp>
      <p:sp>
        <p:nvSpPr>
          <p:cNvPr id="1048605" name="TableTitle"/>
          <p:cNvSpPr txBox="1"/>
          <p:nvPr/>
        </p:nvSpPr>
        <p:spPr>
          <a:xfrm>
            <a:off x="2423160" y="3017520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Related tools &amp; technology: pose model comparison</a:t>
            </a:r>
          </a:p>
        </p:txBody>
      </p:sp>
      <p:graphicFrame>
        <p:nvGraphicFramePr>
          <p:cNvPr id="1048606" name="PoseModelTable"/>
          <p:cNvGraphicFramePr>
            <a:graphicFrameLocks noGrp="1"/>
          </p:cNvGraphicFramePr>
          <p:nvPr/>
        </p:nvGraphicFramePr>
        <p:xfrm>
          <a:off x="2423160" y="3383280"/>
          <a:ext cx="94640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2331720"/>
                <a:gridCol w="2286000"/>
                <a:gridCol w="118872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Keypoints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CPU speed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Use in BarBeCue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MediaPipe Full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33 with heel and visibility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Real time, about 30 FPS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Apache-2.0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Default backend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MoveNet Thunder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17 COCO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Very fast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Apache-2.0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Light fallback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YOLO11n-Pose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17 COCO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Fast, nano usable on CPU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AGPL-3.0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Multi-person compare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RTMPose-s ONNX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17 body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Real time with ONNX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Apache-2.0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Accuracy compare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OpenPose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25 body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Slow without GPU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Academic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Reference only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48607" name="Note"/>
          <p:cNvSpPr txBox="1"/>
          <p:nvPr/>
        </p:nvSpPr>
        <p:spPr>
          <a:xfrm>
            <a:off x="2423160" y="5760720"/>
            <a:ext cx="9464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6B5A4E"/>
                </a:solidFill>
              </a:rPr>
              <a:t>MediaPipe wins as default: heels, per-joint visibility and world coordinates in one Apache-2.0 package.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MOTIVATION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Banner"/>
          <p:cNvSpPr/>
          <p:nvPr/>
        </p:nvSpPr>
        <p:spPr>
          <a:xfrm>
            <a:off x="2423160" y="960120"/>
            <a:ext cx="9464040" cy="91440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</a:rPr>
              <a:t>Wrong form in squats, push-ups or presses causes knee stress, lower-back strain and shoulder impingement. Beginners train without a coach and cannot see their own back angle.</a:t>
            </a:r>
          </a:p>
        </p:txBody>
      </p:sp>
      <p:sp>
        <p:nvSpPr>
          <p:cNvPr id="1048598" name="MotivationCard"/>
          <p:cNvSpPr/>
          <p:nvPr/>
        </p:nvSpPr>
        <p:spPr>
          <a:xfrm>
            <a:off x="2423160" y="2103120"/>
            <a:ext cx="4617720" cy="1874519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9" name="IconBadge"/>
          <p:cNvSpPr/>
          <p:nvPr/>
        </p:nvSpPr>
        <p:spPr>
          <a:xfrm>
            <a:off x="2651760" y="2377439"/>
            <a:ext cx="731520" cy="7315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0" name="Icon" descr="i_FaMicrochi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4" y="2553004"/>
            <a:ext cx="380390" cy="380390"/>
          </a:xfrm>
          <a:prstGeom prst="rect">
            <a:avLst/>
          </a:prstGeom>
        </p:spPr>
      </p:pic>
      <p:sp>
        <p:nvSpPr>
          <p:cNvPr id="1048601" name="CardTitle"/>
          <p:cNvSpPr txBox="1"/>
          <p:nvPr/>
        </p:nvSpPr>
        <p:spPr>
          <a:xfrm>
            <a:off x="3566160" y="2331720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Real time on a laptop CPU</a:t>
            </a:r>
          </a:p>
        </p:txBody>
      </p:sp>
      <p:sp>
        <p:nvSpPr>
          <p:cNvPr id="1048602" name="CardText"/>
          <p:cNvSpPr txBox="1"/>
          <p:nvPr/>
        </p:nvSpPr>
        <p:spPr>
          <a:xfrm>
            <a:off x="3566160" y="2788920"/>
            <a:ext cx="3337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Pose models now run in real time with no GPU needed.</a:t>
            </a:r>
          </a:p>
        </p:txBody>
      </p:sp>
      <p:sp>
        <p:nvSpPr>
          <p:cNvPr id="1048603" name="MotivationCard"/>
          <p:cNvSpPr/>
          <p:nvPr/>
        </p:nvSpPr>
        <p:spPr>
          <a:xfrm>
            <a:off x="7269479" y="2103120"/>
            <a:ext cx="4617720" cy="1874519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IconBadge"/>
          <p:cNvSpPr/>
          <p:nvPr/>
        </p:nvSpPr>
        <p:spPr>
          <a:xfrm>
            <a:off x="7498079" y="2377439"/>
            <a:ext cx="731520" cy="7315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5" name="Icon" descr="i_FaRulerCombin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4" y="2553004"/>
            <a:ext cx="380390" cy="380390"/>
          </a:xfrm>
          <a:prstGeom prst="rect">
            <a:avLst/>
          </a:prstGeom>
        </p:spPr>
      </p:pic>
      <p:sp>
        <p:nvSpPr>
          <p:cNvPr id="1048606" name="CardTitle"/>
          <p:cNvSpPr txBox="1"/>
          <p:nvPr/>
        </p:nvSpPr>
        <p:spPr>
          <a:xfrm>
            <a:off x="8412480" y="2331720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Angles explain faults</a:t>
            </a:r>
          </a:p>
        </p:txBody>
      </p:sp>
      <p:sp>
        <p:nvSpPr>
          <p:cNvPr id="1048607" name="CardText"/>
          <p:cNvSpPr txBox="1"/>
          <p:nvPr/>
        </p:nvSpPr>
        <p:spPr>
          <a:xfrm>
            <a:off x="8412480" y="2788920"/>
            <a:ext cx="3337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Joint angles explain most beginner faults without any learning.</a:t>
            </a:r>
          </a:p>
        </p:txBody>
      </p:sp>
      <p:sp>
        <p:nvSpPr>
          <p:cNvPr id="1048608" name="MotivationCard"/>
          <p:cNvSpPr/>
          <p:nvPr/>
        </p:nvSpPr>
        <p:spPr>
          <a:xfrm>
            <a:off x="2423160" y="4206240"/>
            <a:ext cx="4617720" cy="1874519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9" name="IconBadge"/>
          <p:cNvSpPr/>
          <p:nvPr/>
        </p:nvSpPr>
        <p:spPr>
          <a:xfrm>
            <a:off x="2651760" y="4480559"/>
            <a:ext cx="731520" cy="7315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10" name="Icon" descr="i_Fa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324" y="4656124"/>
            <a:ext cx="380390" cy="380390"/>
          </a:xfrm>
          <a:prstGeom prst="rect">
            <a:avLst/>
          </a:prstGeom>
        </p:spPr>
      </p:pic>
      <p:sp>
        <p:nvSpPr>
          <p:cNvPr id="1048611" name="CardTitle"/>
          <p:cNvSpPr txBox="1"/>
          <p:nvPr/>
        </p:nvSpPr>
        <p:spPr>
          <a:xfrm>
            <a:off x="3566160" y="4434840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Reliable rep logic</a:t>
            </a:r>
          </a:p>
        </p:txBody>
      </p:sp>
      <p:sp>
        <p:nvSpPr>
          <p:cNvPr id="1048612" name="CardText"/>
          <p:cNvSpPr txBox="1"/>
          <p:nvPr/>
        </p:nvSpPr>
        <p:spPr>
          <a:xfrm>
            <a:off x="3566160" y="4892040"/>
            <a:ext cx="3337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A small state machine with hysteresis counts reps reliably once thresholds are tuned.</a:t>
            </a:r>
          </a:p>
        </p:txBody>
      </p:sp>
      <p:sp>
        <p:nvSpPr>
          <p:cNvPr id="1048613" name="MotivationCard"/>
          <p:cNvSpPr/>
          <p:nvPr/>
        </p:nvSpPr>
        <p:spPr>
          <a:xfrm>
            <a:off x="7269479" y="4206240"/>
            <a:ext cx="4617720" cy="1874519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4" name="IconBadge"/>
          <p:cNvSpPr/>
          <p:nvPr/>
        </p:nvSpPr>
        <p:spPr>
          <a:xfrm>
            <a:off x="7498079" y="4480559"/>
            <a:ext cx="731520" cy="7315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15" name="Icon" descr="i_FaFlas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4" y="4656124"/>
            <a:ext cx="380390" cy="380390"/>
          </a:xfrm>
          <a:prstGeom prst="rect">
            <a:avLst/>
          </a:prstGeom>
        </p:spPr>
      </p:pic>
      <p:sp>
        <p:nvSpPr>
          <p:cNvPr id="1048616" name="CardTitle"/>
          <p:cNvSpPr txBox="1"/>
          <p:nvPr/>
        </p:nvSpPr>
        <p:spPr>
          <a:xfrm>
            <a:off x="8412480" y="4434840"/>
            <a:ext cx="3337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Defensible evaluation</a:t>
            </a:r>
          </a:p>
        </p:txBody>
      </p:sp>
      <p:sp>
        <p:nvSpPr>
          <p:cNvPr id="1048617" name="CardText"/>
          <p:cNvSpPr txBox="1"/>
          <p:nvPr/>
        </p:nvSpPr>
        <p:spPr>
          <a:xfrm>
            <a:off x="8412480" y="4892040"/>
            <a:ext cx="3337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Students record clips, tune thresholds and defend results with plots and tables.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PROBLEM STATEMENT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ProblemCard"/>
          <p:cNvSpPr/>
          <p:nvPr/>
        </p:nvSpPr>
        <p:spPr>
          <a:xfrm>
            <a:off x="2423160" y="960120"/>
            <a:ext cx="4846320" cy="5349240"/>
          </a:xfrm>
          <a:prstGeom prst="roundRect">
            <a:avLst>
              <a:gd name="adj" fmla="val 5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598" name="Icon" descr="i_FaQuestion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280160"/>
            <a:ext cx="731520" cy="731520"/>
          </a:xfrm>
          <a:prstGeom prst="rect">
            <a:avLst/>
          </a:prstGeom>
        </p:spPr>
      </p:pic>
      <p:sp>
        <p:nvSpPr>
          <p:cNvPr id="1048599" name="Label"/>
          <p:cNvSpPr txBox="1"/>
          <p:nvPr/>
        </p:nvSpPr>
        <p:spPr>
          <a:xfrm>
            <a:off x="2788920" y="219456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F8CBAD"/>
                </a:solidFill>
              </a:rPr>
              <a:t>THE PROBLEM</a:t>
            </a:r>
          </a:p>
        </p:txBody>
      </p:sp>
      <p:sp>
        <p:nvSpPr>
          <p:cNvPr id="1048600" name="Statement"/>
          <p:cNvSpPr txBox="1"/>
          <p:nvPr/>
        </p:nvSpPr>
        <p:spPr>
          <a:xfrm>
            <a:off x="2788920" y="2606040"/>
            <a:ext cx="411480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</a:rPr>
              <a:t>The absence of affordable live form feedback for single-user home and lab workouts using only a normal webcam.</a:t>
            </a:r>
          </a:p>
        </p:txBody>
      </p:sp>
      <p:sp>
        <p:nvSpPr>
          <p:cNvPr id="1048601" name="Constraint"/>
          <p:cNvSpPr txBox="1"/>
          <p:nvPr/>
        </p:nvSpPr>
        <p:spPr>
          <a:xfrm>
            <a:off x="2788920" y="521208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F8CBAD"/>
                </a:solidFill>
              </a:rPr>
              <a:t>No wearables, no depth camera, no GPU.</a:t>
            </a:r>
          </a:p>
        </p:txBody>
      </p:sp>
      <p:sp>
        <p:nvSpPr>
          <p:cNvPr id="1048602" name="ShortfallCard"/>
          <p:cNvSpPr/>
          <p:nvPr/>
        </p:nvSpPr>
        <p:spPr>
          <a:xfrm>
            <a:off x="7498079" y="960120"/>
            <a:ext cx="4389120" cy="164592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3" name="IconBadge"/>
          <p:cNvSpPr/>
          <p:nvPr/>
        </p:nvSpPr>
        <p:spPr>
          <a:xfrm>
            <a:off x="7680960" y="1188720"/>
            <a:ext cx="640080" cy="64008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4" name="Icon" descr="i_FaVide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79" y="1342339"/>
            <a:ext cx="332841" cy="332841"/>
          </a:xfrm>
          <a:prstGeom prst="rect">
            <a:avLst/>
          </a:prstGeom>
        </p:spPr>
      </p:pic>
      <p:sp>
        <p:nvSpPr>
          <p:cNvPr id="1048605" name="CardTitle"/>
          <p:cNvSpPr txBox="1"/>
          <p:nvPr/>
        </p:nvSpPr>
        <p:spPr>
          <a:xfrm>
            <a:off x="8503920" y="114300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843C0C"/>
                </a:solidFill>
              </a:rPr>
              <a:t>Tutorial videos are one-way</a:t>
            </a:r>
          </a:p>
        </p:txBody>
      </p:sp>
      <p:sp>
        <p:nvSpPr>
          <p:cNvPr id="1048606" name="CardText"/>
          <p:cNvSpPr txBox="1"/>
          <p:nvPr/>
        </p:nvSpPr>
        <p:spPr>
          <a:xfrm>
            <a:off x="8503920" y="160020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They cannot see or correct your form.</a:t>
            </a:r>
          </a:p>
        </p:txBody>
      </p:sp>
      <p:sp>
        <p:nvSpPr>
          <p:cNvPr id="1048607" name="ShortfallCard"/>
          <p:cNvSpPr/>
          <p:nvPr/>
        </p:nvSpPr>
        <p:spPr>
          <a:xfrm>
            <a:off x="7498079" y="2770632"/>
            <a:ext cx="4389120" cy="164592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IconBadge"/>
          <p:cNvSpPr/>
          <p:nvPr/>
        </p:nvSpPr>
        <p:spPr>
          <a:xfrm>
            <a:off x="7680960" y="2999232"/>
            <a:ext cx="640080" cy="64008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9" name="Icon" descr="i_FaEy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579" y="3152851"/>
            <a:ext cx="332841" cy="332841"/>
          </a:xfrm>
          <a:prstGeom prst="rect">
            <a:avLst/>
          </a:prstGeom>
        </p:spPr>
      </p:pic>
      <p:sp>
        <p:nvSpPr>
          <p:cNvPr id="1048610" name="CardTitle"/>
          <p:cNvSpPr txBox="1"/>
          <p:nvPr/>
        </p:nvSpPr>
        <p:spPr>
          <a:xfrm>
            <a:off x="8503920" y="295351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843C0C"/>
                </a:solidFill>
              </a:rPr>
              <a:t>Mirror self-checks fall short</a:t>
            </a:r>
          </a:p>
        </p:txBody>
      </p:sp>
      <p:sp>
        <p:nvSpPr>
          <p:cNvPr id="1048611" name="CardText"/>
          <p:cNvSpPr txBox="1"/>
          <p:nvPr/>
        </p:nvSpPr>
        <p:spPr>
          <a:xfrm>
            <a:off x="8503920" y="3410712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Side-view angles such as back lean are missed.</a:t>
            </a:r>
          </a:p>
        </p:txBody>
      </p:sp>
      <p:sp>
        <p:nvSpPr>
          <p:cNvPr id="1048612" name="ShortfallCard"/>
          <p:cNvSpPr/>
          <p:nvPr/>
        </p:nvSpPr>
        <p:spPr>
          <a:xfrm>
            <a:off x="7498079" y="4581144"/>
            <a:ext cx="4389120" cy="164592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IconBadge"/>
          <p:cNvSpPr/>
          <p:nvPr/>
        </p:nvSpPr>
        <p:spPr>
          <a:xfrm>
            <a:off x="7680960" y="4809744"/>
            <a:ext cx="640080" cy="64008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14" name="Icon" descr="i_FaProjectDiagram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579" y="4963363"/>
            <a:ext cx="332841" cy="332841"/>
          </a:xfrm>
          <a:prstGeom prst="rect">
            <a:avLst/>
          </a:prstGeom>
        </p:spPr>
      </p:pic>
      <p:sp>
        <p:nvSpPr>
          <p:cNvPr id="1048615" name="CardTitle"/>
          <p:cNvSpPr txBox="1"/>
          <p:nvPr/>
        </p:nvSpPr>
        <p:spPr>
          <a:xfrm>
            <a:off x="8503920" y="4764024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843C0C"/>
                </a:solidFill>
              </a:rPr>
              <a:t>AI trainer repos are demos</a:t>
            </a:r>
          </a:p>
        </p:txBody>
      </p:sp>
      <p:sp>
        <p:nvSpPr>
          <p:cNvPr id="1048616" name="CardText"/>
          <p:cNvSpPr txBox="1"/>
          <p:nvPr/>
        </p:nvSpPr>
        <p:spPr>
          <a:xfrm>
            <a:off x="8503920" y="5221224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Single exercise, without debouncing, visibility gating or evaluation.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OBJECTIVES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ObjectiveRow"/>
          <p:cNvSpPr/>
          <p:nvPr/>
        </p:nvSpPr>
        <p:spPr>
          <a:xfrm>
            <a:off x="2423160" y="960120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NumBadge"/>
          <p:cNvSpPr/>
          <p:nvPr/>
        </p:nvSpPr>
        <p:spPr>
          <a:xfrm>
            <a:off x="2560320" y="1115568"/>
            <a:ext cx="475488" cy="475488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8599" name="ObjectiveText"/>
          <p:cNvSpPr txBox="1"/>
          <p:nvPr/>
        </p:nvSpPr>
        <p:spPr>
          <a:xfrm>
            <a:off x="3154680" y="996696"/>
            <a:ext cx="46634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Real-time pipeline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Capture, pose, smooth, angles, rules and render at 20–30 FPS on CPU</a:t>
            </a:r>
          </a:p>
        </p:txBody>
      </p:sp>
      <p:sp>
        <p:nvSpPr>
          <p:cNvPr id="1048600" name="ObjectiveRow"/>
          <p:cNvSpPr/>
          <p:nvPr/>
        </p:nvSpPr>
        <p:spPr>
          <a:xfrm>
            <a:off x="2423160" y="1856232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1" name="NumBadge"/>
          <p:cNvSpPr/>
          <p:nvPr/>
        </p:nvSpPr>
        <p:spPr>
          <a:xfrm>
            <a:off x="2560320" y="2011680"/>
            <a:ext cx="475488" cy="475488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8602" name="ObjectiveText"/>
          <p:cNvSpPr txBox="1"/>
          <p:nvPr/>
        </p:nvSpPr>
        <p:spPr>
          <a:xfrm>
            <a:off x="3154680" y="1892808"/>
            <a:ext cx="46634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Seven exercises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Squat, lunge, push-up, curl, press, plank hold and desk posture from a dropdown</a:t>
            </a:r>
          </a:p>
        </p:txBody>
      </p:sp>
      <p:sp>
        <p:nvSpPr>
          <p:cNvPr id="1048603" name="ObjectiveRow"/>
          <p:cNvSpPr/>
          <p:nvPr/>
        </p:nvSpPr>
        <p:spPr>
          <a:xfrm>
            <a:off x="2423160" y="2752344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NumBadge"/>
          <p:cNvSpPr/>
          <p:nvPr/>
        </p:nvSpPr>
        <p:spPr>
          <a:xfrm>
            <a:off x="2560320" y="2907791"/>
            <a:ext cx="475488" cy="475488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8605" name="ObjectiveText"/>
          <p:cNvSpPr txBox="1"/>
          <p:nvPr/>
        </p:nvSpPr>
        <p:spPr>
          <a:xfrm>
            <a:off x="3154680" y="2788920"/>
            <a:ext cx="46634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Exact rep counter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Dual thresholds, deadband of 30° or more, partial reps, 0.5 s minimum interval</a:t>
            </a:r>
          </a:p>
        </p:txBody>
      </p:sp>
      <p:sp>
        <p:nvSpPr>
          <p:cNvPr id="1048606" name="ObjectiveRow"/>
          <p:cNvSpPr/>
          <p:nvPr/>
        </p:nvSpPr>
        <p:spPr>
          <a:xfrm>
            <a:off x="2423160" y="3648456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7" name="NumBadge"/>
          <p:cNvSpPr/>
          <p:nvPr/>
        </p:nvSpPr>
        <p:spPr>
          <a:xfrm>
            <a:off x="2560320" y="3803904"/>
            <a:ext cx="475488" cy="475488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48608" name="ObjectiveText"/>
          <p:cNvSpPr txBox="1"/>
          <p:nvPr/>
        </p:nvSpPr>
        <p:spPr>
          <a:xfrm>
            <a:off x="3154680" y="3685032"/>
            <a:ext cx="46634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Feedback engine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Severity priority, 0.6 s debounce, 1.5 s hold, two messages max, Good form state</a:t>
            </a:r>
          </a:p>
        </p:txBody>
      </p:sp>
      <p:sp>
        <p:nvSpPr>
          <p:cNvPr id="1048609" name="ObjectiveRow"/>
          <p:cNvSpPr/>
          <p:nvPr/>
        </p:nvSpPr>
        <p:spPr>
          <a:xfrm>
            <a:off x="2423160" y="454456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NumBadge"/>
          <p:cNvSpPr/>
          <p:nvPr/>
        </p:nvSpPr>
        <p:spPr>
          <a:xfrm>
            <a:off x="2560320" y="4700016"/>
            <a:ext cx="475488" cy="475488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48611" name="ObjectiveText"/>
          <p:cNvSpPr txBox="1"/>
          <p:nvPr/>
        </p:nvSpPr>
        <p:spPr>
          <a:xfrm>
            <a:off x="3154680" y="4581144"/>
            <a:ext cx="46634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Swappable backend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One detect() function for MediaPipe, YOLO-Pose and RTMPose</a:t>
            </a:r>
          </a:p>
        </p:txBody>
      </p:sp>
      <p:sp>
        <p:nvSpPr>
          <p:cNvPr id="1048612" name="ObjectiveRow"/>
          <p:cNvSpPr/>
          <p:nvPr/>
        </p:nvSpPr>
        <p:spPr>
          <a:xfrm>
            <a:off x="2423160" y="5440680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NumBadge"/>
          <p:cNvSpPr/>
          <p:nvPr/>
        </p:nvSpPr>
        <p:spPr>
          <a:xfrm>
            <a:off x="2560320" y="5596128"/>
            <a:ext cx="475488" cy="475488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48614" name="ObjectiveText"/>
          <p:cNvSpPr txBox="1"/>
          <p:nvPr/>
        </p:nvSpPr>
        <p:spPr>
          <a:xfrm>
            <a:off x="3154680" y="5477256"/>
            <a:ext cx="46634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Offline evaluation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Rep accuracy, fault recall, false alarms, FPS and jitter on recorded clips</a:t>
            </a:r>
          </a:p>
        </p:txBody>
      </p:sp>
      <p:sp>
        <p:nvSpPr>
          <p:cNvPr id="1048615" name="SolvedCard"/>
          <p:cNvSpPr/>
          <p:nvPr/>
        </p:nvSpPr>
        <p:spPr>
          <a:xfrm>
            <a:off x="8138160" y="960120"/>
            <a:ext cx="3749039" cy="26060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SectionHead"/>
          <p:cNvSpPr/>
          <p:nvPr/>
        </p:nvSpPr>
        <p:spPr>
          <a:xfrm>
            <a:off x="8275320" y="105156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Challenges solved: 4</a:t>
            </a:r>
          </a:p>
        </p:txBody>
      </p:sp>
      <p:pic>
        <p:nvPicPr>
          <p:cNvPr id="1048617" name="Icon" descr="i_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1124712"/>
            <a:ext cx="237744" cy="237744"/>
          </a:xfrm>
          <a:prstGeom prst="rect">
            <a:avLst/>
          </a:prstGeom>
        </p:spPr>
      </p:pic>
      <p:sp>
        <p:nvSpPr>
          <p:cNvPr id="1048618" name="SolvedText"/>
          <p:cNvSpPr txBox="1"/>
          <p:nvPr/>
        </p:nvSpPr>
        <p:spPr>
          <a:xfrm>
            <a:off x="8275320" y="1554480"/>
            <a:ext cx="3520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3A2314"/>
                </a:solidFill>
              </a:rPr>
              <a:t>Landmark jitter </a:t>
            </a:r>
            <a:r>
              <a:rPr sz="1400" b="0" i="0">
                <a:solidFill>
                  <a:srgbClr val="3A2314"/>
                </a:solidFill>
              </a:rPr>
              <a:t>(EMA smoothing)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3A2314"/>
                </a:solidFill>
              </a:rPr>
              <a:t>Double counts </a:t>
            </a:r>
            <a:r>
              <a:rPr sz="1400" b="0" i="0">
                <a:solidFill>
                  <a:srgbClr val="3A2314"/>
                </a:solidFill>
              </a:rPr>
              <a:t>(hysteresis, 0.5 s)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3A2314"/>
                </a:solidFill>
              </a:rPr>
              <a:t>Hint flicker </a:t>
            </a:r>
            <a:r>
              <a:rPr sz="1400" b="0" i="0">
                <a:solidFill>
                  <a:srgbClr val="3A2314"/>
                </a:solidFill>
              </a:rPr>
              <a:t>(debounce + hold)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3A2314"/>
                </a:solidFill>
              </a:rPr>
              <a:t>Backend lock-in </a:t>
            </a:r>
            <a:r>
              <a:rPr sz="1400" b="0" i="0">
                <a:solidFill>
                  <a:srgbClr val="3A2314"/>
                </a:solidFill>
              </a:rPr>
              <a:t>(one interface)</a:t>
            </a:r>
          </a:p>
        </p:txBody>
      </p:sp>
      <p:sp>
        <p:nvSpPr>
          <p:cNvPr id="1048619" name="OpenCard"/>
          <p:cNvSpPr/>
          <p:nvPr/>
        </p:nvSpPr>
        <p:spPr>
          <a:xfrm>
            <a:off x="8138160" y="3703320"/>
            <a:ext cx="3749039" cy="26060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0" name="SectionHead"/>
          <p:cNvSpPr/>
          <p:nvPr/>
        </p:nvSpPr>
        <p:spPr>
          <a:xfrm>
            <a:off x="8275320" y="379476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Still open: 4</a:t>
            </a:r>
          </a:p>
        </p:txBody>
      </p:sp>
      <p:pic>
        <p:nvPicPr>
          <p:cNvPr id="1048621" name="Icon" descr="i_FaRegCir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867912"/>
            <a:ext cx="237744" cy="237744"/>
          </a:xfrm>
          <a:prstGeom prst="rect">
            <a:avLst/>
          </a:prstGeom>
        </p:spPr>
      </p:pic>
      <p:sp>
        <p:nvSpPr>
          <p:cNvPr id="1048622" name="OpenText"/>
          <p:cNvSpPr txBox="1"/>
          <p:nvPr/>
        </p:nvSpPr>
        <p:spPr>
          <a:xfrm>
            <a:off x="8275320" y="4297680"/>
            <a:ext cx="35204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3A2314"/>
                </a:solidFill>
              </a:rPr>
              <a:t>Viewpoint-dependent 2D angles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3A2314"/>
                </a:solidFill>
              </a:rPr>
              <a:t>Heuristic thresholds need per-user tuning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3A2314"/>
                </a:solidFill>
              </a:rPr>
              <a:t>Clothing, light and occlusion noise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3A2314"/>
                </a:solidFill>
              </a:rPr>
              <a:t>Multi-person and mobile use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PROPOSED METHODOLOGY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tepCard"/>
          <p:cNvSpPr/>
          <p:nvPr/>
        </p:nvSpPr>
        <p:spPr>
          <a:xfrm>
            <a:off x="2423160" y="960120"/>
            <a:ext cx="3017520" cy="21488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NumBadge"/>
          <p:cNvSpPr/>
          <p:nvPr/>
        </p:nvSpPr>
        <p:spPr>
          <a:xfrm>
            <a:off x="2606040" y="1143000"/>
            <a:ext cx="502920" cy="5029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8599" name="StepTitle"/>
          <p:cNvSpPr txBox="1"/>
          <p:nvPr/>
        </p:nvSpPr>
        <p:spPr>
          <a:xfrm>
            <a:off x="3246120" y="118872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Capture</a:t>
            </a:r>
          </a:p>
        </p:txBody>
      </p:sp>
      <p:sp>
        <p:nvSpPr>
          <p:cNvPr id="1048600" name="StepText"/>
          <p:cNvSpPr txBox="1"/>
          <p:nvPr/>
        </p:nvSpPr>
        <p:spPr>
          <a:xfrm>
            <a:off x="2606040" y="1783080"/>
            <a:ext cx="2697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OpenCV reads the webcam at 1280×720, resizes to 960×540 and mirrors the frame.</a:t>
            </a:r>
          </a:p>
        </p:txBody>
      </p:sp>
      <p:sp>
        <p:nvSpPr>
          <p:cNvPr id="1048601" name="Arrow"/>
          <p:cNvSpPr/>
          <p:nvPr/>
        </p:nvSpPr>
        <p:spPr>
          <a:xfrm>
            <a:off x="5440679" y="1920240"/>
            <a:ext cx="205740" cy="256032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tepCard"/>
          <p:cNvSpPr/>
          <p:nvPr/>
        </p:nvSpPr>
        <p:spPr>
          <a:xfrm>
            <a:off x="5646420" y="960120"/>
            <a:ext cx="3017520" cy="21488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3" name="NumBadge"/>
          <p:cNvSpPr/>
          <p:nvPr/>
        </p:nvSpPr>
        <p:spPr>
          <a:xfrm>
            <a:off x="5829300" y="1143000"/>
            <a:ext cx="502920" cy="5029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8604" name="StepTitle"/>
          <p:cNvSpPr txBox="1"/>
          <p:nvPr/>
        </p:nvSpPr>
        <p:spPr>
          <a:xfrm>
            <a:off x="6469380" y="118872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Pose estimation</a:t>
            </a:r>
          </a:p>
        </p:txBody>
      </p:sp>
      <p:sp>
        <p:nvSpPr>
          <p:cNvPr id="1048605" name="StepText"/>
          <p:cNvSpPr txBox="1"/>
          <p:nvPr/>
        </p:nvSpPr>
        <p:spPr>
          <a:xfrm>
            <a:off x="5829300" y="1783080"/>
            <a:ext cx="2697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MediaPipe Landmarker (VIDEO mode) returns 33 landmarks with visibility, gated at 0.5.</a:t>
            </a:r>
          </a:p>
        </p:txBody>
      </p:sp>
      <p:sp>
        <p:nvSpPr>
          <p:cNvPr id="1048606" name="Arrow"/>
          <p:cNvSpPr/>
          <p:nvPr/>
        </p:nvSpPr>
        <p:spPr>
          <a:xfrm>
            <a:off x="8663940" y="1920240"/>
            <a:ext cx="205740" cy="256032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7" name="StepCard"/>
          <p:cNvSpPr/>
          <p:nvPr/>
        </p:nvSpPr>
        <p:spPr>
          <a:xfrm>
            <a:off x="8869680" y="960120"/>
            <a:ext cx="3017520" cy="21488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NumBadge"/>
          <p:cNvSpPr/>
          <p:nvPr/>
        </p:nvSpPr>
        <p:spPr>
          <a:xfrm>
            <a:off x="9052559" y="1143000"/>
            <a:ext cx="502920" cy="5029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8609" name="StepTitle"/>
          <p:cNvSpPr txBox="1"/>
          <p:nvPr/>
        </p:nvSpPr>
        <p:spPr>
          <a:xfrm>
            <a:off x="9692640" y="118872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Smoothing</a:t>
            </a:r>
          </a:p>
        </p:txBody>
      </p:sp>
      <p:sp>
        <p:nvSpPr>
          <p:cNvPr id="1048610" name="StepText"/>
          <p:cNvSpPr txBox="1"/>
          <p:nvPr/>
        </p:nvSpPr>
        <p:spPr>
          <a:xfrm>
            <a:off x="9052559" y="1783080"/>
            <a:ext cx="2697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EMA α = 0.5 on keypoints and 0.6/0.4 on angles; One-Euro filter if flicker persists.</a:t>
            </a:r>
          </a:p>
        </p:txBody>
      </p:sp>
      <p:sp>
        <p:nvSpPr>
          <p:cNvPr id="1048611" name="StepCard"/>
          <p:cNvSpPr/>
          <p:nvPr/>
        </p:nvSpPr>
        <p:spPr>
          <a:xfrm>
            <a:off x="2423160" y="3291839"/>
            <a:ext cx="3017520" cy="21488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2" name="NumBadge"/>
          <p:cNvSpPr/>
          <p:nvPr/>
        </p:nvSpPr>
        <p:spPr>
          <a:xfrm>
            <a:off x="2606040" y="3474720"/>
            <a:ext cx="502920" cy="5029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48613" name="StepTitle"/>
          <p:cNvSpPr txBox="1"/>
          <p:nvPr/>
        </p:nvSpPr>
        <p:spPr>
          <a:xfrm>
            <a:off x="3246120" y="3520439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Geometry</a:t>
            </a:r>
          </a:p>
        </p:txBody>
      </p:sp>
      <p:sp>
        <p:nvSpPr>
          <p:cNvPr id="1048614" name="StepText"/>
          <p:cNvSpPr txBox="1"/>
          <p:nvPr/>
        </p:nvSpPr>
        <p:spPr>
          <a:xfrm>
            <a:off x="2606040" y="4114800"/>
            <a:ext cx="2697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θ = arccos(BA·BC / |BA||BC|) gives knee, hip, elbow, back lean, body line and hip sag.</a:t>
            </a:r>
          </a:p>
        </p:txBody>
      </p:sp>
      <p:sp>
        <p:nvSpPr>
          <p:cNvPr id="1048615" name="Arrow"/>
          <p:cNvSpPr/>
          <p:nvPr/>
        </p:nvSpPr>
        <p:spPr>
          <a:xfrm>
            <a:off x="5440679" y="4251959"/>
            <a:ext cx="205740" cy="256032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StepCard"/>
          <p:cNvSpPr/>
          <p:nvPr/>
        </p:nvSpPr>
        <p:spPr>
          <a:xfrm>
            <a:off x="5646420" y="3291839"/>
            <a:ext cx="3017520" cy="21488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7" name="NumBadge"/>
          <p:cNvSpPr/>
          <p:nvPr/>
        </p:nvSpPr>
        <p:spPr>
          <a:xfrm>
            <a:off x="5829300" y="3474720"/>
            <a:ext cx="502920" cy="50292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48618" name="StepTitle"/>
          <p:cNvSpPr txBox="1"/>
          <p:nvPr/>
        </p:nvSpPr>
        <p:spPr>
          <a:xfrm>
            <a:off x="6469380" y="3520439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Logic</a:t>
            </a:r>
          </a:p>
        </p:txBody>
      </p:sp>
      <p:sp>
        <p:nvSpPr>
          <p:cNvPr id="1048619" name="StepText"/>
          <p:cNvSpPr txBox="1"/>
          <p:nvPr/>
        </p:nvSpPr>
        <p:spPr>
          <a:xfrm>
            <a:off x="5829300" y="4114800"/>
            <a:ext cx="2697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Hysteresis rep counter and debounced rule feedback read the same metrics.</a:t>
            </a:r>
          </a:p>
        </p:txBody>
      </p:sp>
      <p:sp>
        <p:nvSpPr>
          <p:cNvPr id="1048620" name="Arrow"/>
          <p:cNvSpPr/>
          <p:nvPr/>
        </p:nvSpPr>
        <p:spPr>
          <a:xfrm>
            <a:off x="8663940" y="4251959"/>
            <a:ext cx="205740" cy="256032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1" name="StepCard"/>
          <p:cNvSpPr/>
          <p:nvPr/>
        </p:nvSpPr>
        <p:spPr>
          <a:xfrm>
            <a:off x="8869680" y="3291839"/>
            <a:ext cx="3017520" cy="21488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2" name="NumBadge"/>
          <p:cNvSpPr/>
          <p:nvPr/>
        </p:nvSpPr>
        <p:spPr>
          <a:xfrm>
            <a:off x="9052559" y="3474720"/>
            <a:ext cx="502920" cy="5029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48623" name="StepTitle"/>
          <p:cNvSpPr txBox="1"/>
          <p:nvPr/>
        </p:nvSpPr>
        <p:spPr>
          <a:xfrm>
            <a:off x="9692640" y="3520439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Render</a:t>
            </a:r>
          </a:p>
        </p:txBody>
      </p:sp>
      <p:sp>
        <p:nvSpPr>
          <p:cNvPr id="1048624" name="StepText"/>
          <p:cNvSpPr txBox="1"/>
          <p:nvPr/>
        </p:nvSpPr>
        <p:spPr>
          <a:xfrm>
            <a:off x="9052559" y="4114800"/>
            <a:ext cx="2697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Skeleton, REPS, stage or HOLD timer and coaching hints drawn on the live frame.</a:t>
            </a:r>
          </a:p>
        </p:txBody>
      </p:sp>
      <p:sp>
        <p:nvSpPr>
          <p:cNvPr id="1048625" name="Note"/>
          <p:cNvSpPr/>
          <p:nvPr/>
        </p:nvSpPr>
        <p:spPr>
          <a:xfrm>
            <a:off x="2423160" y="5669280"/>
            <a:ext cx="9464040" cy="640080"/>
          </a:xfrm>
          <a:prstGeom prst="roundRect">
            <a:avLst>
              <a:gd name="adj" fmla="val 15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</a:rPr>
              <a:t>Changing the dropdown swaps only the EXERCISES entry and resets counter and feedback while the loop keeps running.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400" lang="en-US">
                <a:latin typeface="Garamond" panose="02020404030301010803" pitchFamily="18" charset="0"/>
                <a:cs typeface="Times New Roman" pitchFamily="18" charset="0"/>
              </a:rPr>
              <a:t>DESCRIPTION OF PROJECT (In Form Of Diagram)</a:t>
            </a:r>
            <a:endParaRPr dirty="0" sz="24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tageLabel"/>
          <p:cNvSpPr/>
          <p:nvPr/>
        </p:nvSpPr>
        <p:spPr>
          <a:xfrm>
            <a:off x="2423160" y="9601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598" name="Icon" descr="i_FaCub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274320" cy="274320"/>
          </a:xfrm>
          <a:prstGeom prst="rect">
            <a:avLst/>
          </a:prstGeom>
        </p:spPr>
      </p:pic>
      <p:sp>
        <p:nvSpPr>
          <p:cNvPr id="1048599" name="StageTitle"/>
          <p:cNvSpPr txBox="1"/>
          <p:nvPr/>
        </p:nvSpPr>
        <p:spPr>
          <a:xfrm>
            <a:off x="2926080" y="100584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BASE WORK</a:t>
            </a:r>
          </a:p>
        </p:txBody>
      </p:sp>
      <p:sp>
        <p:nvSpPr>
          <p:cNvPr id="1048600" name="StageCard"/>
          <p:cNvSpPr/>
          <p:nvPr/>
        </p:nvSpPr>
        <p:spPr>
          <a:xfrm>
            <a:off x="5349240" y="960120"/>
            <a:ext cx="6537960" cy="109728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1" name="StageText"/>
          <p:cNvSpPr txBox="1"/>
          <p:nvPr/>
        </p:nvSpPr>
        <p:spPr>
          <a:xfrm>
            <a:off x="5486400" y="1005840"/>
            <a:ext cx="62636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Angle-threshold rep counters from community AI trainers and Ultralytics workout monitoring, on top of a pre-trained MediaPipe pose model. No training from scratch.</a:t>
            </a:r>
          </a:p>
        </p:txBody>
      </p:sp>
      <p:sp>
        <p:nvSpPr>
          <p:cNvPr id="1048602" name="Arrow"/>
          <p:cNvSpPr/>
          <p:nvPr/>
        </p:nvSpPr>
        <p:spPr>
          <a:xfrm>
            <a:off x="3675887" y="2075688"/>
            <a:ext cx="237744" cy="283464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3" name="StageLabel"/>
          <p:cNvSpPr/>
          <p:nvPr/>
        </p:nvSpPr>
        <p:spPr>
          <a:xfrm>
            <a:off x="2423160" y="23774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4" name="Icon" descr="i_FaTool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788920"/>
            <a:ext cx="274320" cy="274320"/>
          </a:xfrm>
          <a:prstGeom prst="rect">
            <a:avLst/>
          </a:prstGeom>
        </p:spPr>
      </p:pic>
      <p:sp>
        <p:nvSpPr>
          <p:cNvPr id="1048605" name="StageTitle"/>
          <p:cNvSpPr txBox="1"/>
          <p:nvPr/>
        </p:nvSpPr>
        <p:spPr>
          <a:xfrm>
            <a:off x="2926080" y="242316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MENTION THE MODIFICATIONS</a:t>
            </a:r>
          </a:p>
        </p:txBody>
      </p:sp>
      <p:sp>
        <p:nvSpPr>
          <p:cNvPr id="1048606" name="StageCard"/>
          <p:cNvSpPr/>
          <p:nvPr/>
        </p:nvSpPr>
        <p:spPr>
          <a:xfrm>
            <a:off x="5349240" y="2377440"/>
            <a:ext cx="6537960" cy="109728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7" name="StageText"/>
          <p:cNvSpPr txBox="1"/>
          <p:nvPr/>
        </p:nvSpPr>
        <p:spPr>
          <a:xfrm>
            <a:off x="5486400" y="2423160"/>
            <a:ext cx="62636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Unified EXERCISES dictionary with 7 configs · EMA / One-Euro smoothing · visibility gating at 0.5 · dual-threshold hysteresis with 0.5 s minimum interval · debounce 0.6 s and hold 1.5 s · swappable pose backend.</a:t>
            </a:r>
          </a:p>
        </p:txBody>
      </p:sp>
      <p:sp>
        <p:nvSpPr>
          <p:cNvPr id="1048608" name="Arrow"/>
          <p:cNvSpPr/>
          <p:nvPr/>
        </p:nvSpPr>
        <p:spPr>
          <a:xfrm>
            <a:off x="3675887" y="3493008"/>
            <a:ext cx="237744" cy="283464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9" name="StageLabel"/>
          <p:cNvSpPr/>
          <p:nvPr/>
        </p:nvSpPr>
        <p:spPr>
          <a:xfrm>
            <a:off x="2423160" y="379476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10" name="Icon" descr="i_FaBullsey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206240"/>
            <a:ext cx="274320" cy="274320"/>
          </a:xfrm>
          <a:prstGeom prst="rect">
            <a:avLst/>
          </a:prstGeom>
        </p:spPr>
      </p:pic>
      <p:sp>
        <p:nvSpPr>
          <p:cNvPr id="1048611" name="StageTitle"/>
          <p:cNvSpPr txBox="1"/>
          <p:nvPr/>
        </p:nvSpPr>
        <p:spPr>
          <a:xfrm>
            <a:off x="2926080" y="384048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EXPECTED RESULT</a:t>
            </a:r>
          </a:p>
        </p:txBody>
      </p:sp>
      <p:sp>
        <p:nvSpPr>
          <p:cNvPr id="1048612" name="StageCard"/>
          <p:cNvSpPr/>
          <p:nvPr/>
        </p:nvSpPr>
        <p:spPr>
          <a:xfrm>
            <a:off x="5349240" y="3794760"/>
            <a:ext cx="6537960" cy="109728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StageText"/>
          <p:cNvSpPr txBox="1"/>
          <p:nvPr/>
        </p:nvSpPr>
        <p:spPr>
          <a:xfrm>
            <a:off x="5486400" y="3840480"/>
            <a:ext cx="62636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Exact rep match above 90 percent · fault recall above 80 percent with false alarms below 10 percent · 20 to 30 FPS on CPU · reduced jitter.</a:t>
            </a:r>
          </a:p>
        </p:txBody>
      </p:sp>
      <p:sp>
        <p:nvSpPr>
          <p:cNvPr id="1048614" name="Arrow"/>
          <p:cNvSpPr/>
          <p:nvPr/>
        </p:nvSpPr>
        <p:spPr>
          <a:xfrm>
            <a:off x="3675887" y="4910328"/>
            <a:ext cx="237744" cy="283464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5" name="StageLabel"/>
          <p:cNvSpPr/>
          <p:nvPr/>
        </p:nvSpPr>
        <p:spPr>
          <a:xfrm>
            <a:off x="2423160" y="52120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16" name="Icon" descr="i_FaTroph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5623560"/>
            <a:ext cx="274320" cy="274320"/>
          </a:xfrm>
          <a:prstGeom prst="rect">
            <a:avLst/>
          </a:prstGeom>
        </p:spPr>
      </p:pic>
      <p:sp>
        <p:nvSpPr>
          <p:cNvPr id="1048617" name="StageTitle"/>
          <p:cNvSpPr txBox="1"/>
          <p:nvPr/>
        </p:nvSpPr>
        <p:spPr>
          <a:xfrm>
            <a:off x="2926080" y="5257800"/>
            <a:ext cx="21945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048618" name="StageCard"/>
          <p:cNvSpPr/>
          <p:nvPr/>
        </p:nvSpPr>
        <p:spPr>
          <a:xfrm>
            <a:off x="5349240" y="5212080"/>
            <a:ext cx="6537960" cy="109728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9" name="StageText"/>
          <p:cNvSpPr txBox="1"/>
          <p:nvPr/>
        </p:nvSpPr>
        <p:spPr>
          <a:xfrm>
            <a:off x="5486400" y="5257800"/>
            <a:ext cx="62636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3A2314"/>
                </a:solidFill>
              </a:rPr>
              <a:t>Achieved: 93.8 percent exact rep match, 86.5 percent fault recall, 4.5 percent false alarms and about 30 FPS with MediaPipe Full.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HARDWARE &amp; SOFTWARE REQUIREMENTS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ectionHead"/>
          <p:cNvSpPr/>
          <p:nvPr/>
        </p:nvSpPr>
        <p:spPr>
          <a:xfrm>
            <a:off x="2423160" y="914400"/>
            <a:ext cx="9464040" cy="384048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Software requirements</a:t>
            </a:r>
          </a:p>
        </p:txBody>
      </p:sp>
      <p:pic>
        <p:nvPicPr>
          <p:cNvPr id="1048598" name="Icon" descr="i_FaPytho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987552"/>
            <a:ext cx="237744" cy="237744"/>
          </a:xfrm>
          <a:prstGeom prst="rect">
            <a:avLst/>
          </a:prstGeom>
        </p:spPr>
      </p:pic>
      <p:graphicFrame>
        <p:nvGraphicFramePr>
          <p:cNvPr id="1048599" name="SoftwareTable"/>
          <p:cNvGraphicFramePr>
            <a:graphicFrameLocks noGrp="1"/>
          </p:cNvGraphicFramePr>
          <p:nvPr/>
        </p:nvGraphicFramePr>
        <p:xfrm>
          <a:off x="2423160" y="1371600"/>
          <a:ext cx="9464040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3931920"/>
                <a:gridCol w="4160520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Language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Python 3.10 to 3.12 (prefer 3.11)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MediaPipe wheels lag newest Python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MediaPipe Pose Landmarker (full)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33 points, visibility, Apache-2.0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Backup pose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YOLO-Pose nano, RTMPose-s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Backend comparison chapter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Video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OpenCV (opencv-python)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Standard capture and drawing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Math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NumPy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Vector angle maths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UI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Tkinter + Pillow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Offline, lowest latency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Optional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Streamlit, onnxruntime, matplotlib, pandas, pyttsx3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Demo, plots, voice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48600" name="SectionHead"/>
          <p:cNvSpPr/>
          <p:nvPr/>
        </p:nvSpPr>
        <p:spPr>
          <a:xfrm>
            <a:off x="2423160" y="4114800"/>
            <a:ext cx="9464040" cy="3840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Hardware requirements</a:t>
            </a:r>
          </a:p>
        </p:txBody>
      </p:sp>
      <p:pic>
        <p:nvPicPr>
          <p:cNvPr id="1048601" name="Icon" descr="i_FaLapto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76" y="4187952"/>
            <a:ext cx="237744" cy="237744"/>
          </a:xfrm>
          <a:prstGeom prst="rect">
            <a:avLst/>
          </a:prstGeom>
        </p:spPr>
      </p:pic>
      <p:graphicFrame>
        <p:nvGraphicFramePr>
          <p:cNvPr id="1048602" name="HardwareTable"/>
          <p:cNvGraphicFramePr>
            <a:graphicFrameLocks noGrp="1"/>
          </p:cNvGraphicFramePr>
          <p:nvPr/>
        </p:nvGraphicFramePr>
        <p:xfrm>
          <a:off x="2423160" y="4572000"/>
          <a:ext cx="946404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3017520"/>
                <a:gridCol w="50749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Minimum</a:t>
                      </a:r>
                    </a:p>
                  </a:txBody>
                  <a:tcPr marL="54864" marR="54864" marT="27432" marB="27432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Recommended</a:t>
                      </a:r>
                    </a:p>
                  </a:txBody>
                  <a:tcPr marL="54864" marR="54864" marT="27432" marB="27432" anchor="ctr">
                    <a:solidFill>
                      <a:srgbClr val="C55A1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Laptop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8 GB RAM, dual core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8 GB RAM, quad core, integrated graphics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Camera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720p webcam, 30 FPS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720p at hip height, 2 to 3 m, full body visible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Lighting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Even front light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No bright window behind, fitted clothing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GPU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Not required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Not required, CPU target 20 to 30 FPS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400" lang="en-US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dirty="0" sz="24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ModuleRow"/>
          <p:cNvSpPr/>
          <p:nvPr/>
        </p:nvSpPr>
        <p:spPr>
          <a:xfrm>
            <a:off x="2423160" y="960120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Pill"/>
          <p:cNvSpPr/>
          <p:nvPr/>
        </p:nvSpPr>
        <p:spPr>
          <a:xfrm>
            <a:off x="2514600" y="1088136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1</a:t>
            </a:r>
          </a:p>
        </p:txBody>
      </p:sp>
      <p:sp>
        <p:nvSpPr>
          <p:cNvPr id="1048599" name="ModuleText"/>
          <p:cNvSpPr txBox="1"/>
          <p:nvPr/>
        </p:nvSpPr>
        <p:spPr>
          <a:xfrm>
            <a:off x="3749039" y="978408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pose_estimator.py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Wraps the model, returns keypoint dict</a:t>
            </a:r>
          </a:p>
        </p:txBody>
      </p:sp>
      <p:sp>
        <p:nvSpPr>
          <p:cNvPr id="1048600" name="ModuleRow"/>
          <p:cNvSpPr/>
          <p:nvPr/>
        </p:nvSpPr>
        <p:spPr>
          <a:xfrm>
            <a:off x="2423160" y="1719072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1" name="Pill"/>
          <p:cNvSpPr/>
          <p:nvPr/>
        </p:nvSpPr>
        <p:spPr>
          <a:xfrm>
            <a:off x="2514600" y="1847088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2</a:t>
            </a:r>
          </a:p>
        </p:txBody>
      </p:sp>
      <p:sp>
        <p:nvSpPr>
          <p:cNvPr id="1048602" name="ModuleText"/>
          <p:cNvSpPr txBox="1"/>
          <p:nvPr/>
        </p:nvSpPr>
        <p:spPr>
          <a:xfrm>
            <a:off x="3749039" y="1737360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smoothing.py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EMA and One-Euro filtering</a:t>
            </a:r>
          </a:p>
        </p:txBody>
      </p:sp>
      <p:sp>
        <p:nvSpPr>
          <p:cNvPr id="1048603" name="ModuleRow"/>
          <p:cNvSpPr/>
          <p:nvPr/>
        </p:nvSpPr>
        <p:spPr>
          <a:xfrm>
            <a:off x="2423160" y="2478024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Pill"/>
          <p:cNvSpPr/>
          <p:nvPr/>
        </p:nvSpPr>
        <p:spPr>
          <a:xfrm>
            <a:off x="2514600" y="260604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3</a:t>
            </a:r>
          </a:p>
        </p:txBody>
      </p:sp>
      <p:sp>
        <p:nvSpPr>
          <p:cNvPr id="1048605" name="ModuleText"/>
          <p:cNvSpPr txBox="1"/>
          <p:nvPr/>
        </p:nvSpPr>
        <p:spPr>
          <a:xfrm>
            <a:off x="3749039" y="2496312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geometry.py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Angle, tilt and metric computation</a:t>
            </a:r>
          </a:p>
        </p:txBody>
      </p:sp>
      <p:sp>
        <p:nvSpPr>
          <p:cNvPr id="1048606" name="ModuleRow"/>
          <p:cNvSpPr/>
          <p:nvPr/>
        </p:nvSpPr>
        <p:spPr>
          <a:xfrm>
            <a:off x="2423160" y="3236976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7" name="Pill"/>
          <p:cNvSpPr/>
          <p:nvPr/>
        </p:nvSpPr>
        <p:spPr>
          <a:xfrm>
            <a:off x="2514600" y="3364992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4</a:t>
            </a:r>
          </a:p>
        </p:txBody>
      </p:sp>
      <p:sp>
        <p:nvSpPr>
          <p:cNvPr id="1048608" name="ModuleText"/>
          <p:cNvSpPr txBox="1"/>
          <p:nvPr/>
        </p:nvSpPr>
        <p:spPr>
          <a:xfrm>
            <a:off x="3749039" y="3255264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exercises.py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Per-exercise thresholds and rules</a:t>
            </a:r>
          </a:p>
        </p:txBody>
      </p:sp>
      <p:sp>
        <p:nvSpPr>
          <p:cNvPr id="1048609" name="ModuleRow"/>
          <p:cNvSpPr/>
          <p:nvPr/>
        </p:nvSpPr>
        <p:spPr>
          <a:xfrm>
            <a:off x="2423160" y="3995928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Pill"/>
          <p:cNvSpPr/>
          <p:nvPr/>
        </p:nvSpPr>
        <p:spPr>
          <a:xfrm>
            <a:off x="2514600" y="4123944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5</a:t>
            </a:r>
          </a:p>
        </p:txBody>
      </p:sp>
      <p:sp>
        <p:nvSpPr>
          <p:cNvPr id="1048611" name="ModuleText"/>
          <p:cNvSpPr txBox="1"/>
          <p:nvPr/>
        </p:nvSpPr>
        <p:spPr>
          <a:xfrm>
            <a:off x="3749039" y="4014215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rep_counter.py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UP / DOWN hysteresis state machine</a:t>
            </a:r>
          </a:p>
        </p:txBody>
      </p:sp>
      <p:sp>
        <p:nvSpPr>
          <p:cNvPr id="1048612" name="ModuleRow"/>
          <p:cNvSpPr/>
          <p:nvPr/>
        </p:nvSpPr>
        <p:spPr>
          <a:xfrm>
            <a:off x="2423160" y="4754879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Pill"/>
          <p:cNvSpPr/>
          <p:nvPr/>
        </p:nvSpPr>
        <p:spPr>
          <a:xfrm>
            <a:off x="2514600" y="4882895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6</a:t>
            </a:r>
          </a:p>
        </p:txBody>
      </p:sp>
      <p:sp>
        <p:nvSpPr>
          <p:cNvPr id="1048614" name="ModuleText"/>
          <p:cNvSpPr txBox="1"/>
          <p:nvPr/>
        </p:nvSpPr>
        <p:spPr>
          <a:xfrm>
            <a:off x="3749039" y="4773167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feedback.py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Rule debounce, hold and priority</a:t>
            </a:r>
          </a:p>
        </p:txBody>
      </p:sp>
      <p:sp>
        <p:nvSpPr>
          <p:cNvPr id="1048615" name="ModuleRow"/>
          <p:cNvSpPr/>
          <p:nvPr/>
        </p:nvSpPr>
        <p:spPr>
          <a:xfrm>
            <a:off x="2423160" y="5513831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Pill"/>
          <p:cNvSpPr/>
          <p:nvPr/>
        </p:nvSpPr>
        <p:spPr>
          <a:xfrm>
            <a:off x="2514600" y="5641847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</a:rPr>
              <a:t>MODULE 7</a:t>
            </a:r>
          </a:p>
        </p:txBody>
      </p:sp>
      <p:sp>
        <p:nvSpPr>
          <p:cNvPr id="1048617" name="ModuleText"/>
          <p:cNvSpPr txBox="1"/>
          <p:nvPr/>
        </p:nvSpPr>
        <p:spPr>
          <a:xfrm>
            <a:off x="3749039" y="5532119"/>
            <a:ext cx="3703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843C0C"/>
                </a:solidFill>
              </a:rPr>
              <a:t>app.py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3A2314"/>
                </a:solidFill>
              </a:rPr>
              <a:t>Dropdown, main loop and drawing</a:t>
            </a:r>
          </a:p>
        </p:txBody>
      </p:sp>
      <p:pic>
        <p:nvPicPr>
          <p:cNvPr id="1048618" name="ArchitectureDiagram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05840"/>
            <a:ext cx="4069080" cy="4848265"/>
          </a:xfrm>
          <a:prstGeom prst="rect">
            <a:avLst/>
          </a:prstGeom>
        </p:spPr>
      </p:pic>
      <p:sp>
        <p:nvSpPr>
          <p:cNvPr id="1048619" name="Caption"/>
          <p:cNvSpPr txBox="1"/>
          <p:nvPr/>
        </p:nvSpPr>
        <p:spPr>
          <a:xfrm>
            <a:off x="7863840" y="5897880"/>
            <a:ext cx="4069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5A4E"/>
                </a:solidFill>
              </a:rPr>
              <a:t>Per-frame data flow and module dependencies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400" lang="en-US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dirty="0" sz="24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PoseCard"/>
          <p:cNvSpPr/>
          <p:nvPr/>
        </p:nvSpPr>
        <p:spPr>
          <a:xfrm>
            <a:off x="2423160" y="960120"/>
            <a:ext cx="3246120" cy="534924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SectionHead"/>
          <p:cNvSpPr/>
          <p:nvPr/>
        </p:nvSpPr>
        <p:spPr>
          <a:xfrm>
            <a:off x="2532888" y="105156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Pose estimation</a:t>
            </a:r>
          </a:p>
        </p:txBody>
      </p:sp>
      <p:pic>
        <p:nvPicPr>
          <p:cNvPr id="1048599" name="Icon" descr="i_FaCamer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124712"/>
            <a:ext cx="237744" cy="237744"/>
          </a:xfrm>
          <a:prstGeom prst="rect">
            <a:avLst/>
          </a:prstGeom>
        </p:spPr>
      </p:pic>
      <p:pic>
        <p:nvPicPr>
          <p:cNvPr id="1048600" name="SkeletonDiagram" descr="skeleton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554480"/>
            <a:ext cx="2011680" cy="3486912"/>
          </a:xfrm>
          <a:prstGeom prst="rect">
            <a:avLst/>
          </a:prstGeom>
        </p:spPr>
      </p:pic>
      <p:sp>
        <p:nvSpPr>
          <p:cNvPr id="1048601" name="PoseText"/>
          <p:cNvSpPr txBox="1"/>
          <p:nvPr/>
        </p:nvSpPr>
        <p:spPr>
          <a:xfrm>
            <a:off x="2532888" y="5166360"/>
            <a:ext cx="30175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MediaPipe returns 33 landmarks; 19 are used. Heel and foot index enable knee-over-toe, which stays 0 on 17-point backends.</a:t>
            </a:r>
          </a:p>
        </p:txBody>
      </p:sp>
      <p:sp>
        <p:nvSpPr>
          <p:cNvPr id="1048602" name="GeometryCard"/>
          <p:cNvSpPr/>
          <p:nvPr/>
        </p:nvSpPr>
        <p:spPr>
          <a:xfrm>
            <a:off x="5852160" y="960120"/>
            <a:ext cx="6035040" cy="260604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3" name="SectionHead"/>
          <p:cNvSpPr/>
          <p:nvPr/>
        </p:nvSpPr>
        <p:spPr>
          <a:xfrm>
            <a:off x="5961888" y="1051560"/>
            <a:ext cx="5806440" cy="384048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Geometry &amp; metrics</a:t>
            </a:r>
          </a:p>
        </p:txBody>
      </p:sp>
      <p:pic>
        <p:nvPicPr>
          <p:cNvPr id="1048604" name="Icon" descr="i_FaRulerCombine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3" y="1124712"/>
            <a:ext cx="237744" cy="237744"/>
          </a:xfrm>
          <a:prstGeom prst="rect">
            <a:avLst/>
          </a:prstGeom>
        </p:spPr>
      </p:pic>
      <p:pic>
        <p:nvPicPr>
          <p:cNvPr id="1048605" name="AngleDiagram" descr="angl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536192"/>
            <a:ext cx="2240280" cy="1717548"/>
          </a:xfrm>
          <a:prstGeom prst="rect">
            <a:avLst/>
          </a:prstGeom>
        </p:spPr>
      </p:pic>
      <p:sp>
        <p:nvSpPr>
          <p:cNvPr id="1048606" name="GeometryText"/>
          <p:cNvSpPr txBox="1"/>
          <p:nvPr/>
        </p:nvSpPr>
        <p:spPr>
          <a:xfrm>
            <a:off x="8275320" y="1508760"/>
            <a:ext cx="3566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>
                <a:solidFill>
                  <a:srgbClr val="843C0C"/>
                </a:solidFill>
              </a:rPr>
              <a:t>θ = arccos( BA·BC / |BA||BC| 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3A2314"/>
                </a:solidFill>
              </a:rPr>
              <a:t>Straight leg about 170–180°, deep squat about 70–90°.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3A2314"/>
                </a:solidFill>
              </a:rPr>
              <a:t>Metrics: knee, hip, elbow, body line, back lean, neck tilt, knee over toe, elbow drift, hip sag.</a:t>
            </a:r>
          </a:p>
        </p:txBody>
      </p:sp>
      <p:sp>
        <p:nvSpPr>
          <p:cNvPr id="1048607" name="SmoothCard"/>
          <p:cNvSpPr/>
          <p:nvPr/>
        </p:nvSpPr>
        <p:spPr>
          <a:xfrm>
            <a:off x="5852160" y="3703320"/>
            <a:ext cx="6035040" cy="260604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SectionHead"/>
          <p:cNvSpPr/>
          <p:nvPr/>
        </p:nvSpPr>
        <p:spPr>
          <a:xfrm>
            <a:off x="5961888" y="3794760"/>
            <a:ext cx="5806440" cy="3840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Smoothing &amp; visibility gating</a:t>
            </a:r>
          </a:p>
        </p:txBody>
      </p:sp>
      <p:pic>
        <p:nvPicPr>
          <p:cNvPr id="1048609" name="Icon" descr="i_FaSliders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3" y="3867912"/>
            <a:ext cx="237744" cy="237744"/>
          </a:xfrm>
          <a:prstGeom prst="rect">
            <a:avLst/>
          </a:prstGeom>
        </p:spPr>
      </p:pic>
      <p:sp>
        <p:nvSpPr>
          <p:cNvPr id="1048610" name="Stat"/>
          <p:cNvSpPr/>
          <p:nvPr/>
        </p:nvSpPr>
        <p:spPr>
          <a:xfrm>
            <a:off x="5989320" y="42976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1" name="StatNum"/>
          <p:cNvSpPr txBox="1"/>
          <p:nvPr/>
        </p:nvSpPr>
        <p:spPr>
          <a:xfrm>
            <a:off x="5989320" y="4315968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55A11"/>
                </a:solidFill>
              </a:rPr>
              <a:t>α = 0.5</a:t>
            </a:r>
          </a:p>
        </p:txBody>
      </p:sp>
      <p:sp>
        <p:nvSpPr>
          <p:cNvPr id="1048612" name="StatLabel"/>
          <p:cNvSpPr txBox="1"/>
          <p:nvPr/>
        </p:nvSpPr>
        <p:spPr>
          <a:xfrm>
            <a:off x="5989320" y="482803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EMA on keypoints</a:t>
            </a:r>
          </a:p>
        </p:txBody>
      </p:sp>
      <p:sp>
        <p:nvSpPr>
          <p:cNvPr id="1048613" name="Stat"/>
          <p:cNvSpPr/>
          <p:nvPr/>
        </p:nvSpPr>
        <p:spPr>
          <a:xfrm>
            <a:off x="7927848" y="42976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4" name="StatNum"/>
          <p:cNvSpPr txBox="1"/>
          <p:nvPr/>
        </p:nvSpPr>
        <p:spPr>
          <a:xfrm>
            <a:off x="7927848" y="4315968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55A11"/>
                </a:solidFill>
              </a:rPr>
              <a:t>0.6 / 0.4</a:t>
            </a:r>
          </a:p>
        </p:txBody>
      </p:sp>
      <p:sp>
        <p:nvSpPr>
          <p:cNvPr id="1048615" name="StatLabel"/>
          <p:cNvSpPr txBox="1"/>
          <p:nvPr/>
        </p:nvSpPr>
        <p:spPr>
          <a:xfrm>
            <a:off x="7927848" y="482803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angle smoothing</a:t>
            </a:r>
          </a:p>
        </p:txBody>
      </p:sp>
      <p:sp>
        <p:nvSpPr>
          <p:cNvPr id="1048616" name="Stat"/>
          <p:cNvSpPr/>
          <p:nvPr/>
        </p:nvSpPr>
        <p:spPr>
          <a:xfrm>
            <a:off x="9866376" y="42976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7" name="StatNum"/>
          <p:cNvSpPr txBox="1"/>
          <p:nvPr/>
        </p:nvSpPr>
        <p:spPr>
          <a:xfrm>
            <a:off x="9866376" y="4315968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55A11"/>
                </a:solidFill>
              </a:rPr>
              <a:t>≥ 0.5</a:t>
            </a:r>
          </a:p>
        </p:txBody>
      </p:sp>
      <p:sp>
        <p:nvSpPr>
          <p:cNvPr id="1048618" name="StatLabel"/>
          <p:cNvSpPr txBox="1"/>
          <p:nvPr/>
        </p:nvSpPr>
        <p:spPr>
          <a:xfrm>
            <a:off x="9866376" y="482803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visibility gate</a:t>
            </a:r>
          </a:p>
        </p:txBody>
      </p:sp>
      <p:sp>
        <p:nvSpPr>
          <p:cNvPr id="1048619" name="SmoothText"/>
          <p:cNvSpPr txBox="1"/>
          <p:nvPr/>
        </p:nvSpPr>
        <p:spPr>
          <a:xfrm>
            <a:off x="5961888" y="5303520"/>
            <a:ext cx="58521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EMA roughly halves ankle jitter; One-Euro follows fast reps while calming slow holds. Low visibility shows “Step back” instead of guessing.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400" lang="en-US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dirty="0" sz="24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tateCard"/>
          <p:cNvSpPr/>
          <p:nvPr/>
        </p:nvSpPr>
        <p:spPr>
          <a:xfrm>
            <a:off x="2423160" y="960120"/>
            <a:ext cx="9464040" cy="2880360"/>
          </a:xfrm>
          <a:prstGeom prst="roundRect">
            <a:avLst>
              <a:gd name="adj" fmla="val 4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SectionHead"/>
          <p:cNvSpPr/>
          <p:nvPr/>
        </p:nvSpPr>
        <p:spPr>
          <a:xfrm>
            <a:off x="2532888" y="1033271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Rep counter state machine</a:t>
            </a:r>
          </a:p>
        </p:txBody>
      </p:sp>
      <p:pic>
        <p:nvPicPr>
          <p:cNvPr id="1048599" name="Icon" descr="i_FaCog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106424"/>
            <a:ext cx="237744" cy="237744"/>
          </a:xfrm>
          <a:prstGeom prst="rect">
            <a:avLst/>
          </a:prstGeom>
        </p:spPr>
      </p:pic>
      <p:pic>
        <p:nvPicPr>
          <p:cNvPr id="1048600" name="StateMachineDiagram" descr="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79" y="1417320"/>
            <a:ext cx="8503920" cy="2551176"/>
          </a:xfrm>
          <a:prstGeom prst="rect">
            <a:avLst/>
          </a:prstGeom>
        </p:spPr>
      </p:pic>
      <p:sp>
        <p:nvSpPr>
          <p:cNvPr id="1048601" name="TimingCard"/>
          <p:cNvSpPr/>
          <p:nvPr/>
        </p:nvSpPr>
        <p:spPr>
          <a:xfrm>
            <a:off x="2423160" y="3977639"/>
            <a:ext cx="4480560" cy="233172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ectionHead"/>
          <p:cNvSpPr/>
          <p:nvPr/>
        </p:nvSpPr>
        <p:spPr>
          <a:xfrm>
            <a:off x="2532888" y="4050791"/>
            <a:ext cx="4251960" cy="3840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Feedback debounce and hold</a:t>
            </a:r>
          </a:p>
        </p:txBody>
      </p:sp>
      <p:pic>
        <p:nvPicPr>
          <p:cNvPr id="1048603" name="Icon" descr="i_Fa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4123944"/>
            <a:ext cx="237744" cy="237744"/>
          </a:xfrm>
          <a:prstGeom prst="rect">
            <a:avLst/>
          </a:prstGeom>
        </p:spPr>
      </p:pic>
      <p:pic>
        <p:nvPicPr>
          <p:cNvPr id="1048604" name="TimingDiagram" descr="tim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79" y="4553712"/>
            <a:ext cx="3931920" cy="1885716"/>
          </a:xfrm>
          <a:prstGeom prst="rect">
            <a:avLst/>
          </a:prstGeom>
        </p:spPr>
      </p:pic>
      <p:sp>
        <p:nvSpPr>
          <p:cNvPr id="1048605" name="RulesCard"/>
          <p:cNvSpPr/>
          <p:nvPr/>
        </p:nvSpPr>
        <p:spPr>
          <a:xfrm>
            <a:off x="7040880" y="3977639"/>
            <a:ext cx="4846320" cy="233172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6" name="SectionHead"/>
          <p:cNvSpPr/>
          <p:nvPr/>
        </p:nvSpPr>
        <p:spPr>
          <a:xfrm>
            <a:off x="7150608" y="4050791"/>
            <a:ext cx="4617720" cy="384048"/>
          </a:xfrm>
          <a:prstGeom prst="roundRect">
            <a:avLst>
              <a:gd name="adj" fmla="val 5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Starter form rules</a:t>
            </a:r>
          </a:p>
        </p:txBody>
      </p:sp>
      <p:pic>
        <p:nvPicPr>
          <p:cNvPr id="1048607" name="Icon" descr="i_FaListO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4123944"/>
            <a:ext cx="237744" cy="237744"/>
          </a:xfrm>
          <a:prstGeom prst="rect">
            <a:avLst/>
          </a:prstGeom>
        </p:spPr>
      </p:pic>
      <p:graphicFrame>
        <p:nvGraphicFramePr>
          <p:cNvPr id="1048608" name="RulesTable"/>
          <p:cNvGraphicFramePr>
            <a:graphicFrameLocks noGrp="1"/>
          </p:cNvGraphicFramePr>
          <p:nvPr/>
        </p:nvGraphicFramePr>
        <p:xfrm>
          <a:off x="7150608" y="4526280"/>
          <a:ext cx="4572000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240"/>
                <a:gridCol w="1645920"/>
                <a:gridCol w="21488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Exercise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Squat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Keep the back straight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back lean &gt; 55° when knee &lt; 140°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Squat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Knees too far forward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knee over toe &gt; 0.30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Push-up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Keep hips in line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body line &lt; 160°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Curl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Do not swing the 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back lean &gt; 15°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Plank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Raise or lower hips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2314"/>
                          </a:solidFill>
                        </a:rPr>
                        <a:t>hip sag beyond ±0.06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400" lang="en-US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dirty="0" sz="24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ExerciseCard"/>
          <p:cNvSpPr/>
          <p:nvPr/>
        </p:nvSpPr>
        <p:spPr>
          <a:xfrm>
            <a:off x="2423160" y="96012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IconBadge"/>
          <p:cNvSpPr/>
          <p:nvPr/>
        </p:nvSpPr>
        <p:spPr>
          <a:xfrm>
            <a:off x="2606040" y="1143000"/>
            <a:ext cx="548640" cy="54864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599" name="Icon" descr="i_FaDumbbel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3" y="1274673"/>
            <a:ext cx="285292" cy="285292"/>
          </a:xfrm>
          <a:prstGeom prst="rect">
            <a:avLst/>
          </a:prstGeom>
        </p:spPr>
      </p:pic>
      <p:sp>
        <p:nvSpPr>
          <p:cNvPr id="1048600" name="ExerciseName"/>
          <p:cNvSpPr txBox="1"/>
          <p:nvPr/>
        </p:nvSpPr>
        <p:spPr>
          <a:xfrm>
            <a:off x="3246120" y="114300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Squat</a:t>
            </a:r>
          </a:p>
        </p:txBody>
      </p:sp>
      <p:sp>
        <p:nvSpPr>
          <p:cNvPr id="1048601" name="Metric"/>
          <p:cNvSpPr txBox="1"/>
          <p:nvPr/>
        </p:nvSpPr>
        <p:spPr>
          <a:xfrm>
            <a:off x="2560320" y="1874519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Knee angle</a:t>
            </a:r>
          </a:p>
        </p:txBody>
      </p:sp>
      <p:sp>
        <p:nvSpPr>
          <p:cNvPr id="1048602" name="Thresholds"/>
          <p:cNvSpPr txBox="1"/>
          <p:nvPr/>
        </p:nvSpPr>
        <p:spPr>
          <a:xfrm>
            <a:off x="2560320" y="224028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C55A11"/>
                </a:solidFill>
              </a:rPr>
              <a:t>160° → 100°</a:t>
            </a:r>
          </a:p>
        </p:txBody>
      </p:sp>
      <p:sp>
        <p:nvSpPr>
          <p:cNvPr id="1048603" name="View"/>
          <p:cNvSpPr txBox="1"/>
          <p:nvPr/>
        </p:nvSpPr>
        <p:spPr>
          <a:xfrm>
            <a:off x="2560320" y="29718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04" name="ExerciseCard"/>
          <p:cNvSpPr/>
          <p:nvPr/>
        </p:nvSpPr>
        <p:spPr>
          <a:xfrm>
            <a:off x="4846320" y="96012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5" name="IconBadge"/>
          <p:cNvSpPr/>
          <p:nvPr/>
        </p:nvSpPr>
        <p:spPr>
          <a:xfrm>
            <a:off x="5029200" y="1143000"/>
            <a:ext cx="548640" cy="54864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6" name="Icon" descr="i_FaRunn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73" y="1274673"/>
            <a:ext cx="285292" cy="285292"/>
          </a:xfrm>
          <a:prstGeom prst="rect">
            <a:avLst/>
          </a:prstGeom>
        </p:spPr>
      </p:pic>
      <p:sp>
        <p:nvSpPr>
          <p:cNvPr id="1048607" name="ExerciseName"/>
          <p:cNvSpPr txBox="1"/>
          <p:nvPr/>
        </p:nvSpPr>
        <p:spPr>
          <a:xfrm>
            <a:off x="5669280" y="114300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Lunge</a:t>
            </a:r>
          </a:p>
        </p:txBody>
      </p:sp>
      <p:sp>
        <p:nvSpPr>
          <p:cNvPr id="1048608" name="Metric"/>
          <p:cNvSpPr txBox="1"/>
          <p:nvPr/>
        </p:nvSpPr>
        <p:spPr>
          <a:xfrm>
            <a:off x="4983480" y="1874519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Knee angle</a:t>
            </a:r>
          </a:p>
        </p:txBody>
      </p:sp>
      <p:sp>
        <p:nvSpPr>
          <p:cNvPr id="1048609" name="Thresholds"/>
          <p:cNvSpPr txBox="1"/>
          <p:nvPr/>
        </p:nvSpPr>
        <p:spPr>
          <a:xfrm>
            <a:off x="4983480" y="224028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C55A11"/>
                </a:solidFill>
              </a:rPr>
              <a:t>160° → 100°</a:t>
            </a:r>
          </a:p>
        </p:txBody>
      </p:sp>
      <p:sp>
        <p:nvSpPr>
          <p:cNvPr id="1048610" name="View"/>
          <p:cNvSpPr txBox="1"/>
          <p:nvPr/>
        </p:nvSpPr>
        <p:spPr>
          <a:xfrm>
            <a:off x="4983480" y="29718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11" name="ExerciseCard"/>
          <p:cNvSpPr/>
          <p:nvPr/>
        </p:nvSpPr>
        <p:spPr>
          <a:xfrm>
            <a:off x="7269479" y="96012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2" name="IconBadge"/>
          <p:cNvSpPr/>
          <p:nvPr/>
        </p:nvSpPr>
        <p:spPr>
          <a:xfrm>
            <a:off x="7452359" y="1143000"/>
            <a:ext cx="548640" cy="54864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13" name="Icon" descr="i_Fa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33" y="1274673"/>
            <a:ext cx="285292" cy="285292"/>
          </a:xfrm>
          <a:prstGeom prst="rect">
            <a:avLst/>
          </a:prstGeom>
        </p:spPr>
      </p:pic>
      <p:sp>
        <p:nvSpPr>
          <p:cNvPr id="1048614" name="ExerciseName"/>
          <p:cNvSpPr txBox="1"/>
          <p:nvPr/>
        </p:nvSpPr>
        <p:spPr>
          <a:xfrm>
            <a:off x="8092440" y="114300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Push-up</a:t>
            </a:r>
          </a:p>
        </p:txBody>
      </p:sp>
      <p:sp>
        <p:nvSpPr>
          <p:cNvPr id="1048615" name="Metric"/>
          <p:cNvSpPr txBox="1"/>
          <p:nvPr/>
        </p:nvSpPr>
        <p:spPr>
          <a:xfrm>
            <a:off x="7406640" y="1874519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Elbow angle</a:t>
            </a:r>
          </a:p>
        </p:txBody>
      </p:sp>
      <p:sp>
        <p:nvSpPr>
          <p:cNvPr id="1048616" name="Thresholds"/>
          <p:cNvSpPr txBox="1"/>
          <p:nvPr/>
        </p:nvSpPr>
        <p:spPr>
          <a:xfrm>
            <a:off x="7406640" y="224028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C55A11"/>
                </a:solidFill>
              </a:rPr>
              <a:t>155° → 90°</a:t>
            </a:r>
          </a:p>
        </p:txBody>
      </p:sp>
      <p:sp>
        <p:nvSpPr>
          <p:cNvPr id="1048617" name="View"/>
          <p:cNvSpPr txBox="1"/>
          <p:nvPr/>
        </p:nvSpPr>
        <p:spPr>
          <a:xfrm>
            <a:off x="7406640" y="29718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18" name="ExerciseCard"/>
          <p:cNvSpPr/>
          <p:nvPr/>
        </p:nvSpPr>
        <p:spPr>
          <a:xfrm>
            <a:off x="9692640" y="96012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9" name="IconBadge"/>
          <p:cNvSpPr/>
          <p:nvPr/>
        </p:nvSpPr>
        <p:spPr>
          <a:xfrm>
            <a:off x="9875519" y="1143000"/>
            <a:ext cx="548640" cy="54864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20" name="Icon" descr="i_FaSt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193" y="1274673"/>
            <a:ext cx="285292" cy="285292"/>
          </a:xfrm>
          <a:prstGeom prst="rect">
            <a:avLst/>
          </a:prstGeom>
        </p:spPr>
      </p:pic>
      <p:sp>
        <p:nvSpPr>
          <p:cNvPr id="1048621" name="ExerciseName"/>
          <p:cNvSpPr txBox="1"/>
          <p:nvPr/>
        </p:nvSpPr>
        <p:spPr>
          <a:xfrm>
            <a:off x="10515600" y="114300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Bicep curl</a:t>
            </a:r>
          </a:p>
        </p:txBody>
      </p:sp>
      <p:sp>
        <p:nvSpPr>
          <p:cNvPr id="1048622" name="Metric"/>
          <p:cNvSpPr txBox="1"/>
          <p:nvPr/>
        </p:nvSpPr>
        <p:spPr>
          <a:xfrm>
            <a:off x="9829800" y="1874519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Elbow angle</a:t>
            </a:r>
          </a:p>
        </p:txBody>
      </p:sp>
      <p:sp>
        <p:nvSpPr>
          <p:cNvPr id="1048623" name="Thresholds"/>
          <p:cNvSpPr txBox="1"/>
          <p:nvPr/>
        </p:nvSpPr>
        <p:spPr>
          <a:xfrm>
            <a:off x="9829800" y="224028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C55A11"/>
                </a:solidFill>
              </a:rPr>
              <a:t>150° → 50°</a:t>
            </a:r>
          </a:p>
        </p:txBody>
      </p:sp>
      <p:sp>
        <p:nvSpPr>
          <p:cNvPr id="1048624" name="View"/>
          <p:cNvSpPr txBox="1"/>
          <p:nvPr/>
        </p:nvSpPr>
        <p:spPr>
          <a:xfrm>
            <a:off x="9829800" y="29718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25" name="ExerciseCard"/>
          <p:cNvSpPr/>
          <p:nvPr/>
        </p:nvSpPr>
        <p:spPr>
          <a:xfrm>
            <a:off x="2423160" y="365760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6" name="IconBadge"/>
          <p:cNvSpPr/>
          <p:nvPr/>
        </p:nvSpPr>
        <p:spPr>
          <a:xfrm>
            <a:off x="2606040" y="3840480"/>
            <a:ext cx="548640" cy="54864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27" name="Icon" descr="i_FaTroph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7713" y="3972153"/>
            <a:ext cx="285292" cy="285292"/>
          </a:xfrm>
          <a:prstGeom prst="rect">
            <a:avLst/>
          </a:prstGeom>
        </p:spPr>
      </p:pic>
      <p:sp>
        <p:nvSpPr>
          <p:cNvPr id="1048628" name="ExerciseName"/>
          <p:cNvSpPr txBox="1"/>
          <p:nvPr/>
        </p:nvSpPr>
        <p:spPr>
          <a:xfrm>
            <a:off x="3246120" y="384048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Shoulder press</a:t>
            </a:r>
          </a:p>
        </p:txBody>
      </p:sp>
      <p:sp>
        <p:nvSpPr>
          <p:cNvPr id="1048629" name="Metric"/>
          <p:cNvSpPr txBox="1"/>
          <p:nvPr/>
        </p:nvSpPr>
        <p:spPr>
          <a:xfrm>
            <a:off x="2560320" y="45720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Elbow angle</a:t>
            </a:r>
          </a:p>
        </p:txBody>
      </p:sp>
      <p:sp>
        <p:nvSpPr>
          <p:cNvPr id="1048630" name="Thresholds"/>
          <p:cNvSpPr txBox="1"/>
          <p:nvPr/>
        </p:nvSpPr>
        <p:spPr>
          <a:xfrm>
            <a:off x="2560320" y="493776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C55A11"/>
                </a:solidFill>
              </a:rPr>
              <a:t>100° → 160°</a:t>
            </a:r>
          </a:p>
        </p:txBody>
      </p:sp>
      <p:sp>
        <p:nvSpPr>
          <p:cNvPr id="1048631" name="View"/>
          <p:cNvSpPr txBox="1"/>
          <p:nvPr/>
        </p:nvSpPr>
        <p:spPr>
          <a:xfrm>
            <a:off x="2560320" y="566928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32" name="ExerciseCard"/>
          <p:cNvSpPr/>
          <p:nvPr/>
        </p:nvSpPr>
        <p:spPr>
          <a:xfrm>
            <a:off x="4846320" y="365760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3" name="IconBadge"/>
          <p:cNvSpPr/>
          <p:nvPr/>
        </p:nvSpPr>
        <p:spPr>
          <a:xfrm>
            <a:off x="5029200" y="3840480"/>
            <a:ext cx="548640" cy="5486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34" name="Icon" descr="i_FaBullsey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0873" y="3972153"/>
            <a:ext cx="285292" cy="285292"/>
          </a:xfrm>
          <a:prstGeom prst="rect">
            <a:avLst/>
          </a:prstGeom>
        </p:spPr>
      </p:pic>
      <p:sp>
        <p:nvSpPr>
          <p:cNvPr id="1048635" name="ExerciseName"/>
          <p:cNvSpPr txBox="1"/>
          <p:nvPr/>
        </p:nvSpPr>
        <p:spPr>
          <a:xfrm>
            <a:off x="5669280" y="384048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Plank hold</a:t>
            </a:r>
          </a:p>
        </p:txBody>
      </p:sp>
      <p:sp>
        <p:nvSpPr>
          <p:cNvPr id="1048636" name="Metric"/>
          <p:cNvSpPr txBox="1"/>
          <p:nvPr/>
        </p:nvSpPr>
        <p:spPr>
          <a:xfrm>
            <a:off x="4983480" y="45720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Hold timer</a:t>
            </a:r>
          </a:p>
        </p:txBody>
      </p:sp>
      <p:sp>
        <p:nvSpPr>
          <p:cNvPr id="1048637" name="Thresholds"/>
          <p:cNvSpPr txBox="1"/>
          <p:nvPr/>
        </p:nvSpPr>
        <p:spPr>
          <a:xfrm>
            <a:off x="4983480" y="493776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55A11"/>
                </a:solidFill>
              </a:rPr>
              <a:t>Good-form seconds</a:t>
            </a:r>
          </a:p>
        </p:txBody>
      </p:sp>
      <p:sp>
        <p:nvSpPr>
          <p:cNvPr id="1048638" name="View"/>
          <p:cNvSpPr txBox="1"/>
          <p:nvPr/>
        </p:nvSpPr>
        <p:spPr>
          <a:xfrm>
            <a:off x="4983480" y="566928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39" name="ExerciseCard"/>
          <p:cNvSpPr/>
          <p:nvPr/>
        </p:nvSpPr>
        <p:spPr>
          <a:xfrm>
            <a:off x="7269479" y="365760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40" name="IconBadge"/>
          <p:cNvSpPr/>
          <p:nvPr/>
        </p:nvSpPr>
        <p:spPr>
          <a:xfrm>
            <a:off x="7452359" y="3840480"/>
            <a:ext cx="548640" cy="5486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41" name="Icon" descr="i_FaDeskto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033" y="3972153"/>
            <a:ext cx="285292" cy="285292"/>
          </a:xfrm>
          <a:prstGeom prst="rect">
            <a:avLst/>
          </a:prstGeom>
        </p:spPr>
      </p:pic>
      <p:sp>
        <p:nvSpPr>
          <p:cNvPr id="1048642" name="ExerciseName"/>
          <p:cNvSpPr txBox="1"/>
          <p:nvPr/>
        </p:nvSpPr>
        <p:spPr>
          <a:xfrm>
            <a:off x="8092440" y="3840480"/>
            <a:ext cx="13258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843C0C"/>
                </a:solidFill>
              </a:rPr>
              <a:t>Desk posture</a:t>
            </a:r>
          </a:p>
        </p:txBody>
      </p:sp>
      <p:sp>
        <p:nvSpPr>
          <p:cNvPr id="1048643" name="Metric"/>
          <p:cNvSpPr txBox="1"/>
          <p:nvPr/>
        </p:nvSpPr>
        <p:spPr>
          <a:xfrm>
            <a:off x="7406640" y="457200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Metric: </a:t>
            </a:r>
            <a:r>
              <a:rPr sz="1300" b="0" i="0">
                <a:solidFill>
                  <a:srgbClr val="3A2314"/>
                </a:solidFill>
              </a:rPr>
              <a:t>Hold timer</a:t>
            </a:r>
          </a:p>
        </p:txBody>
      </p:sp>
      <p:sp>
        <p:nvSpPr>
          <p:cNvPr id="1048644" name="Thresholds"/>
          <p:cNvSpPr txBox="1"/>
          <p:nvPr/>
        </p:nvSpPr>
        <p:spPr>
          <a:xfrm>
            <a:off x="7406640" y="4937760"/>
            <a:ext cx="1965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55A11"/>
                </a:solidFill>
              </a:rPr>
              <a:t>Good-form seconds</a:t>
            </a:r>
          </a:p>
        </p:txBody>
      </p:sp>
      <p:sp>
        <p:nvSpPr>
          <p:cNvPr id="1048645" name="View"/>
          <p:cNvSpPr txBox="1"/>
          <p:nvPr/>
        </p:nvSpPr>
        <p:spPr>
          <a:xfrm>
            <a:off x="7406640" y="5669280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A2314"/>
                </a:solidFill>
              </a:rPr>
              <a:t>Camera: </a:t>
            </a:r>
            <a:r>
              <a:rPr sz="1300" b="0" i="0">
                <a:solidFill>
                  <a:srgbClr val="3A2314"/>
                </a:solidFill>
              </a:rPr>
              <a:t>Side view</a:t>
            </a:r>
          </a:p>
        </p:txBody>
      </p:sp>
      <p:sp>
        <p:nvSpPr>
          <p:cNvPr id="1048646" name="NoteCard"/>
          <p:cNvSpPr/>
          <p:nvPr/>
        </p:nvSpPr>
        <p:spPr>
          <a:xfrm>
            <a:off x="9692640" y="3657600"/>
            <a:ext cx="2194560" cy="2468880"/>
          </a:xfrm>
          <a:prstGeom prst="roundRect">
            <a:avLst>
              <a:gd name="adj" fmla="val 7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8CBAD"/>
                </a:solidFill>
              </a:rPr>
              <a:t>Start → End thresholds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</a:rPr>
              <a:t>Press is direction-reversed (angle grows at the peak). Deadband of 30° or more. A new exercise needs only one dictionary entry.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RESULT ANALYSIS AND DISCUSSION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ubHead"/>
          <p:cNvSpPr txBox="1"/>
          <p:nvPr/>
        </p:nvSpPr>
        <p:spPr>
          <a:xfrm>
            <a:off x="2423160" y="804672"/>
            <a:ext cx="9464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843C0C"/>
                </a:solidFill>
              </a:rPr>
              <a:t>1 · Rep count accuracy against hand-counted truth</a:t>
            </a:r>
          </a:p>
        </p:txBody>
      </p:sp>
      <p:sp>
        <p:nvSpPr>
          <p:cNvPr id="1048598" name="StatCard"/>
          <p:cNvSpPr/>
          <p:nvPr/>
        </p:nvSpPr>
        <p:spPr>
          <a:xfrm>
            <a:off x="2423160" y="1143000"/>
            <a:ext cx="3017520" cy="114300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9" name="StatNum"/>
          <p:cNvSpPr txBox="1"/>
          <p:nvPr/>
        </p:nvSpPr>
        <p:spPr>
          <a:xfrm>
            <a:off x="2423160" y="118872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C55A11"/>
                </a:solidFill>
              </a:rPr>
              <a:t>93.8%</a:t>
            </a:r>
          </a:p>
        </p:txBody>
      </p:sp>
      <p:sp>
        <p:nvSpPr>
          <p:cNvPr id="1048600" name="StatLabel"/>
          <p:cNvSpPr txBox="1"/>
          <p:nvPr/>
        </p:nvSpPr>
        <p:spPr>
          <a:xfrm>
            <a:off x="2514600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exact rep match (45 of 48 clips)</a:t>
            </a:r>
          </a:p>
        </p:txBody>
      </p:sp>
      <p:sp>
        <p:nvSpPr>
          <p:cNvPr id="1048601" name="StatCard"/>
          <p:cNvSpPr/>
          <p:nvPr/>
        </p:nvSpPr>
        <p:spPr>
          <a:xfrm>
            <a:off x="5646420" y="1143000"/>
            <a:ext cx="3017520" cy="114300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tatNum"/>
          <p:cNvSpPr txBox="1"/>
          <p:nvPr/>
        </p:nvSpPr>
        <p:spPr>
          <a:xfrm>
            <a:off x="5646420" y="118872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C55A11"/>
                </a:solidFill>
              </a:rPr>
              <a:t>0.07</a:t>
            </a:r>
          </a:p>
        </p:txBody>
      </p:sp>
      <p:sp>
        <p:nvSpPr>
          <p:cNvPr id="1048603" name="StatLabel"/>
          <p:cNvSpPr txBox="1"/>
          <p:nvPr/>
        </p:nvSpPr>
        <p:spPr>
          <a:xfrm>
            <a:off x="5737859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mean absolute error (target ≤ 0.5)</a:t>
            </a:r>
          </a:p>
        </p:txBody>
      </p:sp>
      <p:sp>
        <p:nvSpPr>
          <p:cNvPr id="1048604" name="StatCard"/>
          <p:cNvSpPr/>
          <p:nvPr/>
        </p:nvSpPr>
        <p:spPr>
          <a:xfrm>
            <a:off x="8869680" y="1143000"/>
            <a:ext cx="3017520" cy="114300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5" name="StatNum"/>
          <p:cNvSpPr txBox="1"/>
          <p:nvPr/>
        </p:nvSpPr>
        <p:spPr>
          <a:xfrm>
            <a:off x="8869680" y="118872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C55A11"/>
                </a:solidFill>
              </a:rPr>
              <a:t>48</a:t>
            </a:r>
          </a:p>
        </p:txBody>
      </p:sp>
      <p:sp>
        <p:nvSpPr>
          <p:cNvPr id="1048606" name="StatLabel"/>
          <p:cNvSpPr txBox="1"/>
          <p:nvPr/>
        </p:nvSpPr>
        <p:spPr>
          <a:xfrm>
            <a:off x="8961119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recorded clips in 5 sets</a:t>
            </a:r>
          </a:p>
        </p:txBody>
      </p:sp>
      <p:graphicFrame>
        <p:nvGraphicFramePr>
          <p:cNvPr id="1048607" name="RepAccuracyTable"/>
          <p:cNvGraphicFramePr>
            <a:graphicFrameLocks noGrp="1"/>
          </p:cNvGraphicFramePr>
          <p:nvPr/>
        </p:nvGraphicFramePr>
        <p:xfrm>
          <a:off x="2423160" y="2468880"/>
          <a:ext cx="516636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685800"/>
                <a:gridCol w="118872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Clip set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Clips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error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Squat good, side view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12 of 12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Squat shallow with 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7 of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Push-up, side view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9 of 10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0.10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Curl, front 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10 of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Press, side view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7 of 8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A2314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2314"/>
                          </a:solidFill>
                        </a:rPr>
                        <a:t>48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2314"/>
                          </a:solidFill>
                        </a:rPr>
                        <a:t>45 of 48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2314"/>
                          </a:solidFill>
                        </a:rPr>
                        <a:t>0.07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</a:tr>
            </a:tbl>
          </a:graphicData>
        </a:graphic>
      </p:graphicFrame>
      <p:sp>
        <p:nvSpPr>
          <p:cNvPr id="1048608" name="ChartTitle"/>
          <p:cNvSpPr txBox="1"/>
          <p:nvPr/>
        </p:nvSpPr>
        <p:spPr>
          <a:xfrm>
            <a:off x="7772400" y="2423160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6B5A4E"/>
                </a:solidFill>
              </a:rPr>
              <a:t>Exact match rate per clip set (%)</a:t>
            </a:r>
          </a:p>
        </p:txBody>
      </p:sp>
      <p:graphicFrame>
        <p:nvGraphicFramePr>
          <p:cNvPr id="1048609" name="RepChart"/>
          <p:cNvGraphicFramePr>
            <a:graphicFrameLocks noGrp="1"/>
          </p:cNvGraphicFramePr>
          <p:nvPr/>
        </p:nvGraphicFramePr>
        <p:xfrm>
          <a:off x="7680960" y="2697480"/>
          <a:ext cx="42519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48610" name="Discussion"/>
          <p:cNvSpPr/>
          <p:nvPr/>
        </p:nvSpPr>
        <p:spPr>
          <a:xfrm>
            <a:off x="2423160" y="5212080"/>
            <a:ext cx="9464040" cy="105156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8CBAD"/>
                </a:solidFill>
              </a:rPr>
              <a:t>Both targets met. </a:t>
            </a:r>
            <a:r>
              <a:rPr sz="1400" b="0" i="0">
                <a:solidFill>
                  <a:srgbClr val="FFFFFF"/>
                </a:solidFill>
              </a:rPr>
              <a:t>Of 3 misses, two were fast reps less than 0.5 s apart and one was an occluded push-up where visibility gating correctly paused counting.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RESULT ANALYSIS AND DISCUSSION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ubHead"/>
          <p:cNvSpPr txBox="1"/>
          <p:nvPr/>
        </p:nvSpPr>
        <p:spPr>
          <a:xfrm>
            <a:off x="2423160" y="804672"/>
            <a:ext cx="9464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843C0C"/>
                </a:solidFill>
              </a:rPr>
              <a:t>2 · Fault detection quality</a:t>
            </a:r>
          </a:p>
        </p:txBody>
      </p:sp>
      <p:sp>
        <p:nvSpPr>
          <p:cNvPr id="1048598" name="StatCard"/>
          <p:cNvSpPr/>
          <p:nvPr/>
        </p:nvSpPr>
        <p:spPr>
          <a:xfrm>
            <a:off x="2423160" y="1143000"/>
            <a:ext cx="3017520" cy="114300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9" name="StatNum"/>
          <p:cNvSpPr txBox="1"/>
          <p:nvPr/>
        </p:nvSpPr>
        <p:spPr>
          <a:xfrm>
            <a:off x="2423160" y="118872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548235"/>
                </a:solidFill>
              </a:rPr>
              <a:t>86.5%</a:t>
            </a:r>
          </a:p>
        </p:txBody>
      </p:sp>
      <p:sp>
        <p:nvSpPr>
          <p:cNvPr id="1048600" name="StatLabel"/>
          <p:cNvSpPr txBox="1"/>
          <p:nvPr/>
        </p:nvSpPr>
        <p:spPr>
          <a:xfrm>
            <a:off x="2514600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fault recall (32 of 37), goal above 80%</a:t>
            </a:r>
          </a:p>
        </p:txBody>
      </p:sp>
      <p:sp>
        <p:nvSpPr>
          <p:cNvPr id="1048601" name="StatCard"/>
          <p:cNvSpPr/>
          <p:nvPr/>
        </p:nvSpPr>
        <p:spPr>
          <a:xfrm>
            <a:off x="5646420" y="1143000"/>
            <a:ext cx="3017520" cy="114300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tatNum"/>
          <p:cNvSpPr txBox="1"/>
          <p:nvPr/>
        </p:nvSpPr>
        <p:spPr>
          <a:xfrm>
            <a:off x="5646420" y="118872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548235"/>
                </a:solidFill>
              </a:rPr>
              <a:t>4.5%</a:t>
            </a:r>
          </a:p>
        </p:txBody>
      </p:sp>
      <p:sp>
        <p:nvSpPr>
          <p:cNvPr id="1048603" name="StatLabel"/>
          <p:cNvSpPr txBox="1"/>
          <p:nvPr/>
        </p:nvSpPr>
        <p:spPr>
          <a:xfrm>
            <a:off x="5737859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false alarms (2 of 44), goal below 10%</a:t>
            </a:r>
          </a:p>
        </p:txBody>
      </p:sp>
      <p:sp>
        <p:nvSpPr>
          <p:cNvPr id="1048604" name="StatCard"/>
          <p:cNvSpPr/>
          <p:nvPr/>
        </p:nvSpPr>
        <p:spPr>
          <a:xfrm>
            <a:off x="8869680" y="1143000"/>
            <a:ext cx="3017520" cy="114300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5" name="StatNum"/>
          <p:cNvSpPr txBox="1"/>
          <p:nvPr/>
        </p:nvSpPr>
        <p:spPr>
          <a:xfrm>
            <a:off x="8869680" y="118872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C55A11"/>
                </a:solidFill>
              </a:rPr>
              <a:t>4</a:t>
            </a:r>
          </a:p>
        </p:txBody>
      </p:sp>
      <p:sp>
        <p:nvSpPr>
          <p:cNvPr id="1048606" name="StatLabel"/>
          <p:cNvSpPr txBox="1"/>
          <p:nvPr/>
        </p:nvSpPr>
        <p:spPr>
          <a:xfrm>
            <a:off x="8961119" y="1783080"/>
            <a:ext cx="28346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faults tested on labelled clips</a:t>
            </a:r>
          </a:p>
        </p:txBody>
      </p:sp>
      <p:graphicFrame>
        <p:nvGraphicFramePr>
          <p:cNvPr id="1048607" name="FaultTable"/>
          <p:cNvGraphicFramePr>
            <a:graphicFrameLocks noGrp="1"/>
          </p:cNvGraphicFramePr>
          <p:nvPr/>
        </p:nvGraphicFramePr>
        <p:xfrm>
          <a:off x="2423160" y="2468880"/>
          <a:ext cx="530352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109728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Fault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False alarms on good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Rounded back in squat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9 of 10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 of 12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Knees forward in squat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7 of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 of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Hips sag in push-up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8 of 10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 of 10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Swing back in curl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8 of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0 of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A2314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2314"/>
                          </a:solidFill>
                        </a:rPr>
                        <a:t>32 of 37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2314"/>
                          </a:solidFill>
                        </a:rPr>
                        <a:t>2 of 44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</a:tr>
            </a:tbl>
          </a:graphicData>
        </a:graphic>
      </p:graphicFrame>
      <p:sp>
        <p:nvSpPr>
          <p:cNvPr id="1048608" name="ChartTitle"/>
          <p:cNvSpPr txBox="1"/>
          <p:nvPr/>
        </p:nvSpPr>
        <p:spPr>
          <a:xfrm>
            <a:off x="8046720" y="242316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6B5A4E"/>
                </a:solidFill>
              </a:rPr>
              <a:t>Recall per fault (%)</a:t>
            </a:r>
          </a:p>
        </p:txBody>
      </p:sp>
      <p:graphicFrame>
        <p:nvGraphicFramePr>
          <p:cNvPr id="1048609" name="FaultChart"/>
          <p:cNvGraphicFramePr>
            <a:graphicFrameLocks noGrp="1"/>
          </p:cNvGraphicFramePr>
          <p:nvPr/>
        </p:nvGraphicFramePr>
        <p:xfrm>
          <a:off x="7680960" y="2697480"/>
          <a:ext cx="42519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48610" name="Discussion"/>
          <p:cNvSpPr/>
          <p:nvPr/>
        </p:nvSpPr>
        <p:spPr>
          <a:xfrm>
            <a:off x="2423160" y="5212080"/>
            <a:ext cx="9464040" cy="105156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8CBAD"/>
                </a:solidFill>
              </a:rPr>
              <a:t>Misses cluster in dim, backlit scenes </a:t>
            </a:r>
            <a:r>
              <a:rPr sz="1400" b="0" i="0">
                <a:solidFill>
                  <a:srgbClr val="FFFFFF"/>
                </a:solidFill>
              </a:rPr>
              <a:t>where visibility gating prefers “Step back” over guessing. Debounce stops transient spikes from counting as faults.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600" lang="en-US">
                <a:latin typeface="Garamond" panose="02020404030301010803" pitchFamily="18" charset="0"/>
                <a:cs typeface="Times New Roman" pitchFamily="18" charset="0"/>
              </a:rPr>
              <a:t>RESULT ANALYSIS AND DISCUSSION</a:t>
            </a:r>
            <a:endParaRPr dirty="0" sz="26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SubHead"/>
          <p:cNvSpPr txBox="1"/>
          <p:nvPr/>
        </p:nvSpPr>
        <p:spPr>
          <a:xfrm>
            <a:off x="2423160" y="804672"/>
            <a:ext cx="9464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843C0C"/>
                </a:solidFill>
              </a:rPr>
              <a:t>3 · Backend comparison, speed and stability</a:t>
            </a:r>
          </a:p>
        </p:txBody>
      </p:sp>
      <p:graphicFrame>
        <p:nvGraphicFramePr>
          <p:cNvPr id="1048598" name="BackendTable"/>
          <p:cNvGraphicFramePr>
            <a:graphicFrameLocks noGrp="1"/>
          </p:cNvGraphicFramePr>
          <p:nvPr/>
        </p:nvGraphicFramePr>
        <p:xfrm>
          <a:off x="2423160" y="1188720"/>
          <a:ext cx="5760720" cy="25237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594360"/>
                <a:gridCol w="100584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Backend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 match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54864" marR="54864" marT="27432" marB="27432" anchor="ctr">
                    <a:solidFill>
                      <a:srgbClr val="843C0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MediaPipe Lite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44 of 48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Fastest, fewer heel details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MediaPipe Full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45 of 48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Selected default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MediaPipe Heavy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45 of 48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Accurate but below 20 FPS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YOLO11n-Pose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43 of 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No heel, knee over toe zero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RTMPose-s ONNX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A2314"/>
                          </a:solidFill>
                        </a:rPr>
                        <a:t>44 of 48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A2314"/>
                          </a:solidFill>
                        </a:rPr>
                        <a:t>Strong accuracy-speed balance</a:t>
                      </a:r>
                    </a:p>
                  </a:txBody>
                  <a:tcPr marL="54864" marR="54864" marT="27432" marB="2743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48599" name="ChartTitle"/>
          <p:cNvSpPr txBox="1"/>
          <p:nvPr/>
        </p:nvSpPr>
        <p:spPr>
          <a:xfrm>
            <a:off x="8321040" y="1143000"/>
            <a:ext cx="3611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6B5A4E"/>
                </a:solidFill>
              </a:rPr>
              <a:t>Speed on laptop CPU (FPS)</a:t>
            </a:r>
          </a:p>
        </p:txBody>
      </p:sp>
      <p:graphicFrame>
        <p:nvGraphicFramePr>
          <p:cNvPr id="1048600" name="FpsChart"/>
          <p:cNvGraphicFramePr>
            <a:graphicFrameLocks noGrp="1"/>
          </p:cNvGraphicFramePr>
          <p:nvPr/>
        </p:nvGraphicFramePr>
        <p:xfrm>
          <a:off x="8321040" y="1417320"/>
          <a:ext cx="361188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48601" name="StatCard"/>
          <p:cNvSpPr/>
          <p:nvPr/>
        </p:nvSpPr>
        <p:spPr>
          <a:xfrm>
            <a:off x="2423160" y="3977639"/>
            <a:ext cx="3017520" cy="118872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tatNum"/>
          <p:cNvSpPr txBox="1"/>
          <p:nvPr/>
        </p:nvSpPr>
        <p:spPr>
          <a:xfrm>
            <a:off x="2423160" y="4023360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55A11"/>
                </a:solidFill>
              </a:rPr>
              <a:t>≈ ½ jitter</a:t>
            </a:r>
          </a:p>
        </p:txBody>
      </p:sp>
      <p:sp>
        <p:nvSpPr>
          <p:cNvPr id="1048603" name="StatLabel"/>
          <p:cNvSpPr txBox="1"/>
          <p:nvPr/>
        </p:nvSpPr>
        <p:spPr>
          <a:xfrm>
            <a:off x="2514600" y="4553712"/>
            <a:ext cx="283464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EMA at 0.5 roughly halves ankle jitter</a:t>
            </a:r>
          </a:p>
        </p:txBody>
      </p:sp>
      <p:sp>
        <p:nvSpPr>
          <p:cNvPr id="1048604" name="StatCard"/>
          <p:cNvSpPr/>
          <p:nvPr/>
        </p:nvSpPr>
        <p:spPr>
          <a:xfrm>
            <a:off x="5646420" y="3977639"/>
            <a:ext cx="3017520" cy="118872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5" name="StatNum"/>
          <p:cNvSpPr txBox="1"/>
          <p:nvPr/>
        </p:nvSpPr>
        <p:spPr>
          <a:xfrm>
            <a:off x="5646420" y="4023360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55A11"/>
                </a:solidFill>
              </a:rPr>
              <a:t>No hover counts</a:t>
            </a:r>
          </a:p>
        </p:txBody>
      </p:sp>
      <p:sp>
        <p:nvSpPr>
          <p:cNvPr id="1048606" name="StatLabel"/>
          <p:cNvSpPr txBox="1"/>
          <p:nvPr/>
        </p:nvSpPr>
        <p:spPr>
          <a:xfrm>
            <a:off x="5737859" y="4553712"/>
            <a:ext cx="283464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Deadband of 30° or more stops threshold chatter</a:t>
            </a:r>
          </a:p>
        </p:txBody>
      </p:sp>
      <p:sp>
        <p:nvSpPr>
          <p:cNvPr id="1048607" name="StatCard"/>
          <p:cNvSpPr/>
          <p:nvPr/>
        </p:nvSpPr>
        <p:spPr>
          <a:xfrm>
            <a:off x="8869680" y="3977639"/>
            <a:ext cx="3017520" cy="118872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StatNum"/>
          <p:cNvSpPr txBox="1"/>
          <p:nvPr/>
        </p:nvSpPr>
        <p:spPr>
          <a:xfrm>
            <a:off x="8869680" y="4023360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55A11"/>
                </a:solidFill>
              </a:rPr>
              <a:t>No double counts</a:t>
            </a:r>
          </a:p>
        </p:txBody>
      </p:sp>
      <p:sp>
        <p:nvSpPr>
          <p:cNvPr id="1048609" name="StatLabel"/>
          <p:cNvSpPr txBox="1"/>
          <p:nvPr/>
        </p:nvSpPr>
        <p:spPr>
          <a:xfrm>
            <a:off x="8961119" y="4553712"/>
            <a:ext cx="283464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3A2314"/>
                </a:solidFill>
              </a:rPr>
              <a:t>0.5 s minimum interval blocks fast bounces</a:t>
            </a:r>
          </a:p>
        </p:txBody>
      </p:sp>
      <p:sp>
        <p:nvSpPr>
          <p:cNvPr id="1048610" name="Discussion"/>
          <p:cNvSpPr/>
          <p:nvPr/>
        </p:nvSpPr>
        <p:spPr>
          <a:xfrm>
            <a:off x="2423160" y="5349240"/>
            <a:ext cx="9464040" cy="914400"/>
          </a:xfrm>
          <a:prstGeom prst="roundRect">
            <a:avLst>
              <a:gd name="adj" fmla="val 10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8CBAD"/>
                </a:solidFill>
              </a:rPr>
              <a:t>MediaPipe Full is the default: </a:t>
            </a:r>
            <a:r>
              <a:rPr sz="1400" b="0" i="0">
                <a:solidFill>
                  <a:srgbClr val="FFFFFF"/>
                </a:solidFill>
              </a:rPr>
              <a:t>it matches Heavy on counting, stays above the 20 FPS target and keeps heel-based rules that 17-point models cannot fire.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SCREENSHOTS OF RESULT (If Any)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pic>
        <p:nvPicPr>
          <p:cNvPr id="1048597" name="UIMockup" descr="ui_sq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051560"/>
            <a:ext cx="3017520" cy="2263140"/>
          </a:xfrm>
          <a:prstGeom prst="rect">
            <a:avLst/>
          </a:prstGeom>
        </p:spPr>
      </p:pic>
      <p:sp>
        <p:nvSpPr>
          <p:cNvPr id="1048598" name="ShotCaption"/>
          <p:cNvSpPr txBox="1"/>
          <p:nvPr/>
        </p:nvSpPr>
        <p:spPr>
          <a:xfrm>
            <a:off x="2423160" y="338328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843C0C"/>
                </a:solidFill>
              </a:rPr>
              <a:t>Squat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3A2314"/>
                </a:solidFill>
              </a:rPr>
              <a:t>Skeleton locked to limbs, green REPS, stage PEAK</a:t>
            </a:r>
          </a:p>
        </p:txBody>
      </p:sp>
      <p:pic>
        <p:nvPicPr>
          <p:cNvPr id="1048599" name="UIMockup" descr="ui_push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0" y="1051560"/>
            <a:ext cx="3017520" cy="2263140"/>
          </a:xfrm>
          <a:prstGeom prst="rect">
            <a:avLst/>
          </a:prstGeom>
        </p:spPr>
      </p:pic>
      <p:sp>
        <p:nvSpPr>
          <p:cNvPr id="1048600" name="ShotCaption"/>
          <p:cNvSpPr txBox="1"/>
          <p:nvPr/>
        </p:nvSpPr>
        <p:spPr>
          <a:xfrm>
            <a:off x="5646420" y="338328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843C0C"/>
                </a:solidFill>
              </a:rPr>
              <a:t>Push-up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3A2314"/>
                </a:solidFill>
              </a:rPr>
              <a:t>Hips sag: orange coaching hint appears</a:t>
            </a:r>
          </a:p>
        </p:txBody>
      </p:sp>
      <p:pic>
        <p:nvPicPr>
          <p:cNvPr id="1048601" name="UIMockup" descr="ui_pl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051560"/>
            <a:ext cx="3017520" cy="2263140"/>
          </a:xfrm>
          <a:prstGeom prst="rect">
            <a:avLst/>
          </a:prstGeom>
        </p:spPr>
      </p:pic>
      <p:sp>
        <p:nvSpPr>
          <p:cNvPr id="1048602" name="ShotCaption"/>
          <p:cNvSpPr txBox="1"/>
          <p:nvPr/>
        </p:nvSpPr>
        <p:spPr>
          <a:xfrm>
            <a:off x="8869680" y="338328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843C0C"/>
                </a:solidFill>
              </a:rPr>
              <a:t>Plank hold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3A2314"/>
                </a:solidFill>
              </a:rPr>
              <a:t>Good-form seconds counted as HOLD timer</a:t>
            </a:r>
          </a:p>
        </p:txBody>
      </p:sp>
      <p:sp>
        <p:nvSpPr>
          <p:cNvPr id="1048603" name="LegendCard"/>
          <p:cNvSpPr/>
          <p:nvPr/>
        </p:nvSpPr>
        <p:spPr>
          <a:xfrm>
            <a:off x="2423160" y="4343400"/>
            <a:ext cx="9464040" cy="1234440"/>
          </a:xfrm>
          <a:prstGeom prst="roundRect">
            <a:avLst>
              <a:gd name="adj" fmla="val 7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LegendTitle"/>
          <p:cNvSpPr txBox="1"/>
          <p:nvPr/>
        </p:nvSpPr>
        <p:spPr>
          <a:xfrm>
            <a:off x="2606040" y="4407408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843C0C"/>
                </a:solidFill>
              </a:rPr>
              <a:t>On-screen HUD legend</a:t>
            </a:r>
          </a:p>
        </p:txBody>
      </p:sp>
      <p:sp>
        <p:nvSpPr>
          <p:cNvPr id="1048605" name="Dot"/>
          <p:cNvSpPr/>
          <p:nvPr/>
        </p:nvSpPr>
        <p:spPr>
          <a:xfrm>
            <a:off x="2651760" y="4901184"/>
            <a:ext cx="164592" cy="16459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6" name="LegendText"/>
          <p:cNvSpPr txBox="1"/>
          <p:nvPr/>
        </p:nvSpPr>
        <p:spPr>
          <a:xfrm>
            <a:off x="2907791" y="482803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Amber lines: skeleton links with visibility above 0.5</a:t>
            </a:r>
          </a:p>
        </p:txBody>
      </p:sp>
      <p:sp>
        <p:nvSpPr>
          <p:cNvPr id="1048607" name="Dot"/>
          <p:cNvSpPr/>
          <p:nvPr/>
        </p:nvSpPr>
        <p:spPr>
          <a:xfrm>
            <a:off x="7315200" y="4901184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LegendText"/>
          <p:cNvSpPr txBox="1"/>
          <p:nvPr/>
        </p:nvSpPr>
        <p:spPr>
          <a:xfrm>
            <a:off x="7571231" y="482803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Red dots: tracked joints</a:t>
            </a:r>
          </a:p>
        </p:txBody>
      </p:sp>
      <p:sp>
        <p:nvSpPr>
          <p:cNvPr id="1048609" name="Dot"/>
          <p:cNvSpPr/>
          <p:nvPr/>
        </p:nvSpPr>
        <p:spPr>
          <a:xfrm>
            <a:off x="2651760" y="5248656"/>
            <a:ext cx="164592" cy="164592"/>
          </a:xfrm>
          <a:prstGeom prst="ellipse">
            <a:avLst/>
          </a:prstGeom>
          <a:solidFill>
            <a:srgbClr val="7CD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LegendText"/>
          <p:cNvSpPr txBox="1"/>
          <p:nvPr/>
        </p:nvSpPr>
        <p:spPr>
          <a:xfrm>
            <a:off x="2907791" y="5175504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Green: REPS count and Good form</a:t>
            </a:r>
          </a:p>
        </p:txBody>
      </p:sp>
      <p:sp>
        <p:nvSpPr>
          <p:cNvPr id="1048611" name="Dot"/>
          <p:cNvSpPr/>
          <p:nvPr/>
        </p:nvSpPr>
        <p:spPr>
          <a:xfrm>
            <a:off x="7315200" y="5248656"/>
            <a:ext cx="164592" cy="164592"/>
          </a:xfrm>
          <a:prstGeom prst="ellipse">
            <a:avLst/>
          </a:prstGeom>
          <a:solidFill>
            <a:srgbClr val="D2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2" name="LegendText"/>
          <p:cNvSpPr txBox="1"/>
          <p:nvPr/>
        </p:nvSpPr>
        <p:spPr>
          <a:xfrm>
            <a:off x="7571231" y="5175504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Orange: coaching hints</a:t>
            </a:r>
          </a:p>
        </p:txBody>
      </p:sp>
      <p:sp>
        <p:nvSpPr>
          <p:cNvPr id="1048613" name="Note"/>
          <p:cNvSpPr txBox="1"/>
          <p:nvPr/>
        </p:nvSpPr>
        <p:spPr>
          <a:xfrm>
            <a:off x="2423160" y="5760720"/>
            <a:ext cx="9464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6B5A4E"/>
                </a:solidFill>
              </a:rPr>
              <a:t>Illustrative renderings of the BarBeCue interface. Replace with screenshots from your own demo runs.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CONCLUSION &amp; FUTURE SCOPE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ConclusionCard"/>
          <p:cNvSpPr/>
          <p:nvPr/>
        </p:nvSpPr>
        <p:spPr>
          <a:xfrm>
            <a:off x="2423160" y="960120"/>
            <a:ext cx="4526280" cy="5349240"/>
          </a:xfrm>
          <a:prstGeom prst="roundRect">
            <a:avLst>
              <a:gd name="adj" fmla="val 4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SectionHead"/>
          <p:cNvSpPr/>
          <p:nvPr/>
        </p:nvSpPr>
        <p:spPr>
          <a:xfrm>
            <a:off x="2532888" y="105156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1048599" name="Icon" descr="i_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124712"/>
            <a:ext cx="237744" cy="237744"/>
          </a:xfrm>
          <a:prstGeom prst="rect">
            <a:avLst/>
          </a:prstGeom>
        </p:spPr>
      </p:pic>
      <p:sp>
        <p:nvSpPr>
          <p:cNvPr id="1048600" name="ConclusionText"/>
          <p:cNvSpPr txBox="1"/>
          <p:nvPr/>
        </p:nvSpPr>
        <p:spPr>
          <a:xfrm>
            <a:off x="2560320" y="1554480"/>
            <a:ext cx="4251960" cy="4663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1500" b="1" i="0">
                <a:solidFill>
                  <a:srgbClr val="843C0C"/>
                </a:solidFill>
              </a:rPr>
              <a:t>No GPU, no training. </a:t>
            </a:r>
            <a:r>
              <a:rPr sz="1500" b="0" i="0">
                <a:solidFill>
                  <a:srgbClr val="3A2314"/>
                </a:solidFill>
              </a:rPr>
              <a:t>A pre-trained pose model plus careful geometry, filtering and state design gives a usable live coach on a normal CPU.</a:t>
            </a:r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1500" b="1" i="0">
                <a:solidFill>
                  <a:srgbClr val="843C0C"/>
                </a:solidFill>
              </a:rPr>
              <a:t>Stable output. </a:t>
            </a:r>
            <a:r>
              <a:rPr sz="1500" b="0" i="0">
                <a:solidFill>
                  <a:srgbClr val="3A2314"/>
                </a:solidFill>
              </a:rPr>
              <a:t>Unified EXERCISES dict, one detect() interface, hysteresis and debounce solve flicker and double counts.</a:t>
            </a:r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1500" b="1" i="0">
                <a:solidFill>
                  <a:srgbClr val="843C0C"/>
                </a:solidFill>
              </a:rPr>
              <a:t>Targets met. </a:t>
            </a:r>
            <a:r>
              <a:rPr sz="1500" b="0" i="0">
                <a:solidFill>
                  <a:srgbClr val="3A2314"/>
                </a:solidFill>
              </a:rPr>
              <a:t>93.8% rep match, 86.5% fault recall, 4.5% false alarms.</a:t>
            </a:r>
          </a:p>
          <a:p>
            <a:pPr marL="228600" indent="-228600">
              <a:spcAft>
                <a:spcPts val="1600"/>
              </a:spcAft>
              <a:buFont typeface="Arial"/>
              <a:buChar char="•"/>
            </a:pPr>
            <a:r>
              <a:rPr sz="1500" b="1" i="0">
                <a:solidFill>
                  <a:srgbClr val="843C0C"/>
                </a:solidFill>
              </a:rPr>
              <a:t>Private and safe. </a:t>
            </a:r>
            <a:r>
              <a:rPr sz="1500" b="0" i="0">
                <a:solidFill>
                  <a:srgbClr val="3A2314"/>
                </a:solidFill>
              </a:rPr>
              <a:t>Local processing, consented recordings, general hint wording.</a:t>
            </a:r>
          </a:p>
        </p:txBody>
      </p:sp>
      <p:sp>
        <p:nvSpPr>
          <p:cNvPr id="1048601" name="FutureCard"/>
          <p:cNvSpPr/>
          <p:nvPr/>
        </p:nvSpPr>
        <p:spPr>
          <a:xfrm>
            <a:off x="7132320" y="960120"/>
            <a:ext cx="4754880" cy="5349240"/>
          </a:xfrm>
          <a:prstGeom prst="roundRect">
            <a:avLst>
              <a:gd name="adj" fmla="val 4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SectionHead"/>
          <p:cNvSpPr/>
          <p:nvPr/>
        </p:nvSpPr>
        <p:spPr>
          <a:xfrm>
            <a:off x="7242048" y="1051560"/>
            <a:ext cx="4526280" cy="38404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Future scope</a:t>
            </a:r>
          </a:p>
        </p:txBody>
      </p:sp>
      <p:pic>
        <p:nvPicPr>
          <p:cNvPr id="1048603" name="Icon" descr="i_FaLight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124712"/>
            <a:ext cx="237744" cy="237744"/>
          </a:xfrm>
          <a:prstGeom prst="rect">
            <a:avLst/>
          </a:prstGeom>
        </p:spPr>
      </p:pic>
      <p:sp>
        <p:nvSpPr>
          <p:cNvPr id="1048604" name="NumBadge"/>
          <p:cNvSpPr/>
          <p:nvPr/>
        </p:nvSpPr>
        <p:spPr>
          <a:xfrm>
            <a:off x="7269480" y="1609344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8605" name="FutureItem"/>
          <p:cNvSpPr txBox="1"/>
          <p:nvPr/>
        </p:nvSpPr>
        <p:spPr>
          <a:xfrm>
            <a:off x="7662672" y="1572768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Personal calibration with 3 s stand</a:t>
            </a:r>
          </a:p>
        </p:txBody>
      </p:sp>
      <p:sp>
        <p:nvSpPr>
          <p:cNvPr id="1048606" name="NumBadge"/>
          <p:cNvSpPr/>
          <p:nvPr/>
        </p:nvSpPr>
        <p:spPr>
          <a:xfrm>
            <a:off x="7269480" y="2075688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8607" name="FutureItem"/>
          <p:cNvSpPr txBox="1"/>
          <p:nvPr/>
        </p:nvSpPr>
        <p:spPr>
          <a:xfrm>
            <a:off x="7662672" y="2039112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Rep quality score 0–100 (depth, tempo, symmetry)</a:t>
            </a:r>
          </a:p>
        </p:txBody>
      </p:sp>
      <p:sp>
        <p:nvSpPr>
          <p:cNvPr id="1048608" name="NumBadge"/>
          <p:cNvSpPr/>
          <p:nvPr/>
        </p:nvSpPr>
        <p:spPr>
          <a:xfrm>
            <a:off x="7269480" y="2542032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8609" name="FutureItem"/>
          <p:cNvSpPr txBox="1"/>
          <p:nvPr/>
        </p:nvSpPr>
        <p:spPr>
          <a:xfrm>
            <a:off x="7662672" y="2505456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Learned form classifier (RandomForest)</a:t>
            </a:r>
          </a:p>
        </p:txBody>
      </p:sp>
      <p:sp>
        <p:nvSpPr>
          <p:cNvPr id="1048610" name="NumBadge"/>
          <p:cNvSpPr/>
          <p:nvPr/>
        </p:nvSpPr>
        <p:spPr>
          <a:xfrm>
            <a:off x="7269480" y="3008376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48611" name="FutureItem"/>
          <p:cNvSpPr txBox="1"/>
          <p:nvPr/>
        </p:nvSpPr>
        <p:spPr>
          <a:xfrm>
            <a:off x="7662672" y="2971800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Voice coaching and rep beeps</a:t>
            </a:r>
          </a:p>
        </p:txBody>
      </p:sp>
      <p:sp>
        <p:nvSpPr>
          <p:cNvPr id="1048612" name="NumBadge"/>
          <p:cNvSpPr/>
          <p:nvPr/>
        </p:nvSpPr>
        <p:spPr>
          <a:xfrm>
            <a:off x="7269480" y="3474720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48613" name="FutureItem"/>
          <p:cNvSpPr txBox="1"/>
          <p:nvPr/>
        </p:nvSpPr>
        <p:spPr>
          <a:xfrm>
            <a:off x="7662672" y="3438144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Faulty joint highlighting</a:t>
            </a:r>
          </a:p>
        </p:txBody>
      </p:sp>
      <p:sp>
        <p:nvSpPr>
          <p:cNvPr id="1048614" name="NumBadge"/>
          <p:cNvSpPr/>
          <p:nvPr/>
        </p:nvSpPr>
        <p:spPr>
          <a:xfrm>
            <a:off x="7269480" y="3941063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48615" name="FutureItem"/>
          <p:cNvSpPr txBox="1"/>
          <p:nvPr/>
        </p:nvSpPr>
        <p:spPr>
          <a:xfrm>
            <a:off x="7662672" y="3904487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Automatic exercise recognition</a:t>
            </a:r>
          </a:p>
        </p:txBody>
      </p:sp>
      <p:sp>
        <p:nvSpPr>
          <p:cNvPr id="1048616" name="NumBadge"/>
          <p:cNvSpPr/>
          <p:nvPr/>
        </p:nvSpPr>
        <p:spPr>
          <a:xfrm>
            <a:off x="7269480" y="4407408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48617" name="FutureItem"/>
          <p:cNvSpPr txBox="1"/>
          <p:nvPr/>
        </p:nvSpPr>
        <p:spPr>
          <a:xfrm>
            <a:off x="7662672" y="4370832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Session history with weekly charts</a:t>
            </a:r>
          </a:p>
        </p:txBody>
      </p:sp>
      <p:sp>
        <p:nvSpPr>
          <p:cNvPr id="1048618" name="NumBadge"/>
          <p:cNvSpPr/>
          <p:nvPr/>
        </p:nvSpPr>
        <p:spPr>
          <a:xfrm>
            <a:off x="7269480" y="4873752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48619" name="FutureItem"/>
          <p:cNvSpPr txBox="1"/>
          <p:nvPr/>
        </p:nvSpPr>
        <p:spPr>
          <a:xfrm>
            <a:off x="7662672" y="4837176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Fatigue detection across a set</a:t>
            </a:r>
          </a:p>
        </p:txBody>
      </p:sp>
      <p:sp>
        <p:nvSpPr>
          <p:cNvPr id="1048620" name="NumBadge"/>
          <p:cNvSpPr/>
          <p:nvPr/>
        </p:nvSpPr>
        <p:spPr>
          <a:xfrm>
            <a:off x="7269480" y="5340096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048621" name="FutureItem"/>
          <p:cNvSpPr txBox="1"/>
          <p:nvPr/>
        </p:nvSpPr>
        <p:spPr>
          <a:xfrm>
            <a:off x="7662672" y="5303520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3D world landmarks, side-on warnings</a:t>
            </a:r>
          </a:p>
        </p:txBody>
      </p:sp>
      <p:sp>
        <p:nvSpPr>
          <p:cNvPr id="1048622" name="NumBadge"/>
          <p:cNvSpPr/>
          <p:nvPr/>
        </p:nvSpPr>
        <p:spPr>
          <a:xfrm>
            <a:off x="7269480" y="5806440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048623" name="FutureItem"/>
          <p:cNvSpPr txBox="1"/>
          <p:nvPr/>
        </p:nvSpPr>
        <p:spPr>
          <a:xfrm>
            <a:off x="7662672" y="5769864"/>
            <a:ext cx="41605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A2314"/>
                </a:solidFill>
              </a:rPr>
              <a:t>Mobile (TFLite) and multi-person gym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REFERENCES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RefRow"/>
          <p:cNvSpPr/>
          <p:nvPr/>
        </p:nvSpPr>
        <p:spPr>
          <a:xfrm>
            <a:off x="2423160" y="960120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RefNo"/>
          <p:cNvSpPr txBox="1"/>
          <p:nvPr/>
        </p:nvSpPr>
        <p:spPr>
          <a:xfrm>
            <a:off x="2514600" y="960120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[1]</a:t>
            </a:r>
          </a:p>
        </p:txBody>
      </p:sp>
      <p:sp>
        <p:nvSpPr>
          <p:cNvPr id="1048599" name="RefText"/>
          <p:cNvSpPr txBox="1"/>
          <p:nvPr/>
        </p:nvSpPr>
        <p:spPr>
          <a:xfrm>
            <a:off x="3108960" y="960120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Bazarevsky, V., Grishchenko, I., Raveendran, K., Zhu, T., Zhang, F., &amp; Grundmann, M. (2020, June). BlazePose: On-device real-time body pose tracking. In Proc. CVPR Workshops (pp. 1–8).</a:t>
            </a:r>
          </a:p>
        </p:txBody>
      </p:sp>
      <p:sp>
        <p:nvSpPr>
          <p:cNvPr id="1048600" name="RefRow"/>
          <p:cNvSpPr/>
          <p:nvPr/>
        </p:nvSpPr>
        <p:spPr>
          <a:xfrm>
            <a:off x="2423160" y="1628775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1" name="RefNo"/>
          <p:cNvSpPr txBox="1"/>
          <p:nvPr/>
        </p:nvSpPr>
        <p:spPr>
          <a:xfrm>
            <a:off x="2514600" y="1628775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[2]</a:t>
            </a:r>
          </a:p>
        </p:txBody>
      </p:sp>
      <p:sp>
        <p:nvSpPr>
          <p:cNvPr id="1048602" name="RefText"/>
          <p:cNvSpPr txBox="1"/>
          <p:nvPr/>
        </p:nvSpPr>
        <p:spPr>
          <a:xfrm>
            <a:off x="3108960" y="1628775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Google MediaPipe. (2026). Pose Landmarker guide: 33 landmarks, BlazePose GHUM, lite, full and heavy models [Online documentation].</a:t>
            </a:r>
          </a:p>
        </p:txBody>
      </p:sp>
      <p:sp>
        <p:nvSpPr>
          <p:cNvPr id="1048603" name="RefRow"/>
          <p:cNvSpPr/>
          <p:nvPr/>
        </p:nvSpPr>
        <p:spPr>
          <a:xfrm>
            <a:off x="2423160" y="2297430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RefNo"/>
          <p:cNvSpPr txBox="1"/>
          <p:nvPr/>
        </p:nvSpPr>
        <p:spPr>
          <a:xfrm>
            <a:off x="2514600" y="2297430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[3]</a:t>
            </a:r>
          </a:p>
        </p:txBody>
      </p:sp>
      <p:sp>
        <p:nvSpPr>
          <p:cNvPr id="1048605" name="RefText"/>
          <p:cNvSpPr txBox="1"/>
          <p:nvPr/>
        </p:nvSpPr>
        <p:spPr>
          <a:xfrm>
            <a:off x="3108960" y="2297430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Jocher, G., et al. (2026). Ultralytics pose estimation docs: YOLO pose models, 17 COCO keypoints, workout monitoring [Online documentation].</a:t>
            </a:r>
          </a:p>
        </p:txBody>
      </p:sp>
      <p:sp>
        <p:nvSpPr>
          <p:cNvPr id="1048606" name="RefRow"/>
          <p:cNvSpPr/>
          <p:nvPr/>
        </p:nvSpPr>
        <p:spPr>
          <a:xfrm>
            <a:off x="2423160" y="2966084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7" name="RefNo"/>
          <p:cNvSpPr txBox="1"/>
          <p:nvPr/>
        </p:nvSpPr>
        <p:spPr>
          <a:xfrm>
            <a:off x="2514600" y="2966084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[4]</a:t>
            </a:r>
          </a:p>
        </p:txBody>
      </p:sp>
      <p:sp>
        <p:nvSpPr>
          <p:cNvPr id="1048608" name="RefText"/>
          <p:cNvSpPr txBox="1"/>
          <p:nvPr/>
        </p:nvSpPr>
        <p:spPr>
          <a:xfrm>
            <a:off x="3108960" y="2966084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Jiang, T., et al. (2023). RTMPose: Real-time multi-person pose estimation based on MMPose. arXiv preprint.</a:t>
            </a:r>
          </a:p>
        </p:txBody>
      </p:sp>
      <p:sp>
        <p:nvSpPr>
          <p:cNvPr id="1048609" name="RefRow"/>
          <p:cNvSpPr/>
          <p:nvPr/>
        </p:nvSpPr>
        <p:spPr>
          <a:xfrm>
            <a:off x="2423160" y="3634739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RefNo"/>
          <p:cNvSpPr txBox="1"/>
          <p:nvPr/>
        </p:nvSpPr>
        <p:spPr>
          <a:xfrm>
            <a:off x="2514600" y="3634739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[5]</a:t>
            </a:r>
          </a:p>
        </p:txBody>
      </p:sp>
      <p:sp>
        <p:nvSpPr>
          <p:cNvPr id="1048611" name="RefText"/>
          <p:cNvSpPr txBox="1"/>
          <p:nvPr/>
        </p:nvSpPr>
        <p:spPr>
          <a:xfrm>
            <a:off x="3108960" y="3634739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Cao, Z., Hidalgo, G., Simon, T., Wei, S., &amp; Sheikh, Y. (2019). OpenPose: Realtime multi-person 2D pose estimation using part affinity fields. IEEE Transactions on Pattern Analysis and Machine Intelligence, 43(1), 172–186.</a:t>
            </a:r>
          </a:p>
        </p:txBody>
      </p:sp>
      <p:sp>
        <p:nvSpPr>
          <p:cNvPr id="1048612" name="RefRow"/>
          <p:cNvSpPr/>
          <p:nvPr/>
        </p:nvSpPr>
        <p:spPr>
          <a:xfrm>
            <a:off x="2423160" y="4303395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RefNo"/>
          <p:cNvSpPr txBox="1"/>
          <p:nvPr/>
        </p:nvSpPr>
        <p:spPr>
          <a:xfrm>
            <a:off x="2514600" y="4303395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[6]</a:t>
            </a:r>
          </a:p>
        </p:txBody>
      </p:sp>
      <p:sp>
        <p:nvSpPr>
          <p:cNvPr id="1048614" name="RefText"/>
          <p:cNvSpPr txBox="1"/>
          <p:nvPr/>
        </p:nvSpPr>
        <p:spPr>
          <a:xfrm>
            <a:off x="3108960" y="4303395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TensorFlow. (2026). MoveNet Lightning and Thunder: Lite pose estimation overview and TF.js announcement [Online documentation].</a:t>
            </a:r>
          </a:p>
        </p:txBody>
      </p:sp>
      <p:sp>
        <p:nvSpPr>
          <p:cNvPr id="1048615" name="RefRow"/>
          <p:cNvSpPr/>
          <p:nvPr/>
        </p:nvSpPr>
        <p:spPr>
          <a:xfrm>
            <a:off x="2423160" y="4972049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RefNo"/>
          <p:cNvSpPr txBox="1"/>
          <p:nvPr/>
        </p:nvSpPr>
        <p:spPr>
          <a:xfrm>
            <a:off x="2514600" y="4972049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[7]</a:t>
            </a:r>
          </a:p>
        </p:txBody>
      </p:sp>
      <p:sp>
        <p:nvSpPr>
          <p:cNvPr id="1048617" name="RefText"/>
          <p:cNvSpPr txBox="1"/>
          <p:nvPr/>
        </p:nvSpPr>
        <p:spPr>
          <a:xfrm>
            <a:off x="3108960" y="4972049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Lin, T., et al. (2014, September). Microsoft COCO: Common objects in context. In Proc. ECCV (pp. 740–755).</a:t>
            </a:r>
          </a:p>
        </p:txBody>
      </p:sp>
      <p:sp>
        <p:nvSpPr>
          <p:cNvPr id="1048618" name="RefRow"/>
          <p:cNvSpPr/>
          <p:nvPr/>
        </p:nvSpPr>
        <p:spPr>
          <a:xfrm>
            <a:off x="2423160" y="5640704"/>
            <a:ext cx="9464040" cy="5772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9" name="RefNo"/>
          <p:cNvSpPr txBox="1"/>
          <p:nvPr/>
        </p:nvSpPr>
        <p:spPr>
          <a:xfrm>
            <a:off x="2514600" y="5640704"/>
            <a:ext cx="59436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[8]</a:t>
            </a:r>
          </a:p>
        </p:txBody>
      </p:sp>
      <p:sp>
        <p:nvSpPr>
          <p:cNvPr id="1048620" name="RefText"/>
          <p:cNvSpPr txBox="1"/>
          <p:nvPr/>
        </p:nvSpPr>
        <p:spPr>
          <a:xfrm>
            <a:off x="3108960" y="5640704"/>
            <a:ext cx="8641080" cy="57721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Andriluka, M., Pishchulin, L., Gehler, P., &amp; Schiele, B. (2014, June). 2D human pose estimation: New benchmark and state of the art analysis. In Proc. CVPR (pp. 3686–3693).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REFERENCES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RefRow"/>
          <p:cNvSpPr/>
          <p:nvPr/>
        </p:nvSpPr>
        <p:spPr>
          <a:xfrm>
            <a:off x="2423160" y="960120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RefNo"/>
          <p:cNvSpPr txBox="1"/>
          <p:nvPr/>
        </p:nvSpPr>
        <p:spPr>
          <a:xfrm>
            <a:off x="2514600" y="960120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[9]</a:t>
            </a:r>
          </a:p>
        </p:txBody>
      </p:sp>
      <p:sp>
        <p:nvSpPr>
          <p:cNvPr id="1048599" name="RefText"/>
          <p:cNvSpPr txBox="1"/>
          <p:nvPr/>
        </p:nvSpPr>
        <p:spPr>
          <a:xfrm>
            <a:off x="3108960" y="960120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Casiez, G., Roussel, N., &amp; Vogel, D. (2012, May). 1 Euro filter: A simple speed-based low-pass filter for noisy input. In Proc. CHI (pp. 2527–2530).</a:t>
            </a:r>
          </a:p>
        </p:txBody>
      </p:sp>
      <p:sp>
        <p:nvSpPr>
          <p:cNvPr id="1048600" name="RefRow"/>
          <p:cNvSpPr/>
          <p:nvPr/>
        </p:nvSpPr>
        <p:spPr>
          <a:xfrm>
            <a:off x="2423160" y="1724297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1" name="RefNo"/>
          <p:cNvSpPr txBox="1"/>
          <p:nvPr/>
        </p:nvSpPr>
        <p:spPr>
          <a:xfrm>
            <a:off x="2514600" y="1724297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[10]</a:t>
            </a:r>
          </a:p>
        </p:txBody>
      </p:sp>
      <p:sp>
        <p:nvSpPr>
          <p:cNvPr id="1048602" name="RefText"/>
          <p:cNvSpPr txBox="1"/>
          <p:nvPr/>
        </p:nvSpPr>
        <p:spPr>
          <a:xfrm>
            <a:off x="3108960" y="1724297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OpenMMLab. (2026). rtmlib: Lightweight RTMPose inference without mmcv or mmpose [GitHub repository].</a:t>
            </a:r>
          </a:p>
        </p:txBody>
      </p:sp>
      <p:sp>
        <p:nvSpPr>
          <p:cNvPr id="1048603" name="RefRow"/>
          <p:cNvSpPr/>
          <p:nvPr/>
        </p:nvSpPr>
        <p:spPr>
          <a:xfrm>
            <a:off x="2423160" y="2488474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RefNo"/>
          <p:cNvSpPr txBox="1"/>
          <p:nvPr/>
        </p:nvSpPr>
        <p:spPr>
          <a:xfrm>
            <a:off x="2514600" y="2488474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[11]</a:t>
            </a:r>
          </a:p>
        </p:txBody>
      </p:sp>
      <p:sp>
        <p:nvSpPr>
          <p:cNvPr id="1048605" name="RefText"/>
          <p:cNvSpPr txBox="1"/>
          <p:nvPr/>
        </p:nvSpPr>
        <p:spPr>
          <a:xfrm>
            <a:off x="3108960" y="2488474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Community repositories. (2026). AI personal trainer OpenCV MediaPipe and MediaPipe pose squat counter examples [GitHub search].</a:t>
            </a:r>
          </a:p>
        </p:txBody>
      </p:sp>
      <p:sp>
        <p:nvSpPr>
          <p:cNvPr id="1048606" name="RefRow"/>
          <p:cNvSpPr/>
          <p:nvPr/>
        </p:nvSpPr>
        <p:spPr>
          <a:xfrm>
            <a:off x="2423160" y="3252651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7" name="RefNo"/>
          <p:cNvSpPr txBox="1"/>
          <p:nvPr/>
        </p:nvSpPr>
        <p:spPr>
          <a:xfrm>
            <a:off x="2514600" y="3252651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[12]</a:t>
            </a:r>
          </a:p>
        </p:txBody>
      </p:sp>
      <p:sp>
        <p:nvSpPr>
          <p:cNvPr id="1048608" name="RefText"/>
          <p:cNvSpPr txBox="1"/>
          <p:nvPr/>
        </p:nvSpPr>
        <p:spPr>
          <a:xfrm>
            <a:off x="3108960" y="3252651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Ultralytics. (2026). Workout monitoring solution: Push-up, pull-up and squat counting with keypoint angles [Online solution guide].</a:t>
            </a:r>
          </a:p>
        </p:txBody>
      </p:sp>
      <p:sp>
        <p:nvSpPr>
          <p:cNvPr id="1048609" name="RefRow"/>
          <p:cNvSpPr/>
          <p:nvPr/>
        </p:nvSpPr>
        <p:spPr>
          <a:xfrm>
            <a:off x="2423160" y="4016828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RefNo"/>
          <p:cNvSpPr txBox="1"/>
          <p:nvPr/>
        </p:nvSpPr>
        <p:spPr>
          <a:xfrm>
            <a:off x="2514600" y="4016828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[13]</a:t>
            </a:r>
          </a:p>
        </p:txBody>
      </p:sp>
      <p:sp>
        <p:nvSpPr>
          <p:cNvPr id="1048611" name="RefText"/>
          <p:cNvSpPr txBox="1"/>
          <p:nvPr/>
        </p:nvSpPr>
        <p:spPr>
          <a:xfrm>
            <a:off x="3108960" y="4016828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Fit3D &amp; Human3.6M. (2022). 3D fitness and motion capture datasets for biomechanical comparison [Dataset references].</a:t>
            </a:r>
          </a:p>
        </p:txBody>
      </p:sp>
      <p:sp>
        <p:nvSpPr>
          <p:cNvPr id="1048612" name="RefRow"/>
          <p:cNvSpPr/>
          <p:nvPr/>
        </p:nvSpPr>
        <p:spPr>
          <a:xfrm>
            <a:off x="2423160" y="4781005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RefNo"/>
          <p:cNvSpPr txBox="1"/>
          <p:nvPr/>
        </p:nvSpPr>
        <p:spPr>
          <a:xfrm>
            <a:off x="2514600" y="4781005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[14]</a:t>
            </a:r>
          </a:p>
        </p:txBody>
      </p:sp>
      <p:sp>
        <p:nvSpPr>
          <p:cNvPr id="1048614" name="RefText"/>
          <p:cNvSpPr txBox="1"/>
          <p:nvPr/>
        </p:nvSpPr>
        <p:spPr>
          <a:xfrm>
            <a:off x="3108960" y="4781005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Xu, Y., et al. (2022). ViTPose and HRNet studies for high accuracy pose estimation [Conference papers].</a:t>
            </a:r>
          </a:p>
        </p:txBody>
      </p:sp>
      <p:sp>
        <p:nvSpPr>
          <p:cNvPr id="1048615" name="RefRow"/>
          <p:cNvSpPr/>
          <p:nvPr/>
        </p:nvSpPr>
        <p:spPr>
          <a:xfrm>
            <a:off x="2423160" y="5545182"/>
            <a:ext cx="9464040" cy="672737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RefNo"/>
          <p:cNvSpPr txBox="1"/>
          <p:nvPr/>
        </p:nvSpPr>
        <p:spPr>
          <a:xfrm>
            <a:off x="2514600" y="5545182"/>
            <a:ext cx="59436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843C0C"/>
                </a:solidFill>
              </a:rPr>
              <a:t>[15]</a:t>
            </a:r>
          </a:p>
        </p:txBody>
      </p:sp>
      <p:sp>
        <p:nvSpPr>
          <p:cNvPr id="1048617" name="RefText"/>
          <p:cNvSpPr txBox="1"/>
          <p:nvPr/>
        </p:nvSpPr>
        <p:spPr>
          <a:xfrm>
            <a:off x="3108960" y="5545182"/>
            <a:ext cx="8641080" cy="67273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A2314"/>
                </a:solidFill>
              </a:rPr>
              <a:t>Kaggle contributors. (2026). Exercise video sets with squat, push-up and curl clips [Kaggle datasets].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85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C58B3AD-D297-1047-9FAD-E399140930C8}" type="slidenum">
              <a:rPr lang="en-US" smtClean="0"/>
              <a:t>2</a:t>
            </a:fld>
            <a:endParaRPr dirty="0" lang="en-US"/>
          </a:p>
        </p:txBody>
      </p:sp>
      <p:sp>
        <p:nvSpPr>
          <p:cNvPr id="1048593" name="Rectangle 9"/>
          <p:cNvSpPr/>
          <p:nvPr/>
        </p:nvSpPr>
        <p:spPr>
          <a:xfrm>
            <a:off x="0" y="736600"/>
            <a:ext cx="2133600" cy="6121400"/>
          </a:xfrm>
          <a:prstGeom prst="rect"/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bIns="54727" lIns="109454" rIns="109454" tIns="54727"/>
          <a:p>
            <a:pPr algn="ctr"/>
            <a:endParaRPr dirty="0" lang="en-US">
              <a:solidFill>
                <a:prstClr val="white"/>
              </a:solidFill>
            </a:endParaRPr>
          </a:p>
        </p:txBody>
      </p:sp>
      <p:sp>
        <p:nvSpPr>
          <p:cNvPr id="1048594" name="Rectangle 11"/>
          <p:cNvSpPr/>
          <p:nvPr/>
        </p:nvSpPr>
        <p:spPr>
          <a:xfrm>
            <a:off x="2133600" y="0"/>
            <a:ext cx="10058400" cy="736600"/>
          </a:xfrm>
          <a:prstGeom prst="rect"/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latin typeface="Garamond" panose="02020404030301010803" pitchFamily="18" charset="0"/>
                <a:cs typeface="Times New Roman" pitchFamily="18" charset="0"/>
              </a:rPr>
              <a:t>PUBLICATION DETAILS</a:t>
            </a:r>
            <a:endParaRPr dirty="0" sz="2800" lang="en-US">
              <a:latin typeface="Garamond" panose="02020404030301010803" pitchFamily="18" charset="0"/>
            </a:endParaRPr>
          </a:p>
        </p:txBody>
      </p:sp>
      <p:sp>
        <p:nvSpPr>
          <p:cNvPr id="104859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p>
            <a:r>
              <a:rPr b="1" dirty="0" i="1" lang="en-US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1048597" name="PubRow"/>
          <p:cNvSpPr/>
          <p:nvPr/>
        </p:nvSpPr>
        <p:spPr>
          <a:xfrm>
            <a:off x="2423160" y="1005840"/>
            <a:ext cx="9464040" cy="105156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598" name="IconBadge"/>
          <p:cNvSpPr/>
          <p:nvPr/>
        </p:nvSpPr>
        <p:spPr>
          <a:xfrm>
            <a:off x="2651760" y="1234440"/>
            <a:ext cx="594360" cy="59436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599" name="Icon" descr="i_FaCalendarAl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406" y="1377086"/>
            <a:ext cx="309067" cy="309067"/>
          </a:xfrm>
          <a:prstGeom prst="rect">
            <a:avLst/>
          </a:prstGeom>
        </p:spPr>
      </p:pic>
      <p:sp>
        <p:nvSpPr>
          <p:cNvPr id="1048600" name="PubLabel"/>
          <p:cNvSpPr txBox="1"/>
          <p:nvPr/>
        </p:nvSpPr>
        <p:spPr>
          <a:xfrm>
            <a:off x="3474720" y="1078992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Conference Date :</a:t>
            </a:r>
          </a:p>
        </p:txBody>
      </p:sp>
      <p:sp>
        <p:nvSpPr>
          <p:cNvPr id="1048601" name="PubValue"/>
          <p:cNvSpPr txBox="1"/>
          <p:nvPr/>
        </p:nvSpPr>
        <p:spPr>
          <a:xfrm>
            <a:off x="6080760" y="1078992"/>
            <a:ext cx="5715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A2314"/>
                </a:solidFill>
              </a:rPr>
              <a:t>To be decided (draft under preparation)</a:t>
            </a:r>
          </a:p>
        </p:txBody>
      </p:sp>
      <p:sp>
        <p:nvSpPr>
          <p:cNvPr id="1048602" name="PubRow"/>
          <p:cNvSpPr/>
          <p:nvPr/>
        </p:nvSpPr>
        <p:spPr>
          <a:xfrm>
            <a:off x="2423160" y="2240280"/>
            <a:ext cx="9464040" cy="105156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3" name="IconBadge"/>
          <p:cNvSpPr/>
          <p:nvPr/>
        </p:nvSpPr>
        <p:spPr>
          <a:xfrm>
            <a:off x="2651760" y="2468880"/>
            <a:ext cx="594360" cy="59436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4" name="Icon" descr="i_FaUniversit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406" y="2611526"/>
            <a:ext cx="309067" cy="309067"/>
          </a:xfrm>
          <a:prstGeom prst="rect">
            <a:avLst/>
          </a:prstGeom>
        </p:spPr>
      </p:pic>
      <p:sp>
        <p:nvSpPr>
          <p:cNvPr id="1048605" name="PubLabel"/>
          <p:cNvSpPr txBox="1"/>
          <p:nvPr/>
        </p:nvSpPr>
        <p:spPr>
          <a:xfrm>
            <a:off x="3474720" y="2313432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Conference Name :</a:t>
            </a:r>
          </a:p>
        </p:txBody>
      </p:sp>
      <p:sp>
        <p:nvSpPr>
          <p:cNvPr id="1048606" name="PubValue"/>
          <p:cNvSpPr txBox="1"/>
          <p:nvPr/>
        </p:nvSpPr>
        <p:spPr>
          <a:xfrm>
            <a:off x="6080760" y="2313432"/>
            <a:ext cx="5715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A2314"/>
                </a:solidFill>
              </a:rPr>
              <a:t>Target: institute symposium and undergraduate student tracks</a:t>
            </a:r>
          </a:p>
        </p:txBody>
      </p:sp>
      <p:sp>
        <p:nvSpPr>
          <p:cNvPr id="1048607" name="PubRow"/>
          <p:cNvSpPr/>
          <p:nvPr/>
        </p:nvSpPr>
        <p:spPr>
          <a:xfrm>
            <a:off x="2423160" y="3474720"/>
            <a:ext cx="9464040" cy="105156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IconBadge"/>
          <p:cNvSpPr/>
          <p:nvPr/>
        </p:nvSpPr>
        <p:spPr>
          <a:xfrm>
            <a:off x="2651760" y="3703320"/>
            <a:ext cx="594360" cy="59436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8609" name="Icon" descr="i_FaFile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406" y="3845966"/>
            <a:ext cx="309067" cy="309067"/>
          </a:xfrm>
          <a:prstGeom prst="rect">
            <a:avLst/>
          </a:prstGeom>
        </p:spPr>
      </p:pic>
      <p:sp>
        <p:nvSpPr>
          <p:cNvPr id="1048610" name="PubLabel"/>
          <p:cNvSpPr txBox="1"/>
          <p:nvPr/>
        </p:nvSpPr>
        <p:spPr>
          <a:xfrm>
            <a:off x="3474720" y="3547872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843C0C"/>
                </a:solidFill>
              </a:rPr>
              <a:t>Paper Status :</a:t>
            </a:r>
          </a:p>
        </p:txBody>
      </p:sp>
      <p:sp>
        <p:nvSpPr>
          <p:cNvPr id="1048611" name="PubValue"/>
          <p:cNvSpPr txBox="1"/>
          <p:nvPr/>
        </p:nvSpPr>
        <p:spPr>
          <a:xfrm>
            <a:off x="6080760" y="3547872"/>
            <a:ext cx="5715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A2314"/>
                </a:solidFill>
              </a:rPr>
              <a:t>Under preparation. Patent: not applicable.</a:t>
            </a:r>
          </a:p>
        </p:txBody>
      </p:sp>
      <p:sp>
        <p:nvSpPr>
          <p:cNvPr id="1048612" name="DraftCard"/>
          <p:cNvSpPr/>
          <p:nvPr/>
        </p:nvSpPr>
        <p:spPr>
          <a:xfrm>
            <a:off x="2423160" y="4800600"/>
            <a:ext cx="9464040" cy="1417320"/>
          </a:xfrm>
          <a:prstGeom prst="roundRect">
            <a:avLst>
              <a:gd name="adj" fmla="val 8000"/>
            </a:avLst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CBAD"/>
                </a:solidFill>
              </a:rPr>
              <a:t>Draft title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BarBeCue: Real Time Barbell Posture Cues From Webcam Pose Angles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CBAD"/>
                </a:solidFill>
              </a:rPr>
              <a:t>Based on Chapter 5 results (Fig. 5.1 and Fig. 5.2). Test dataset is private under written consent.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Acer</dc:creator>
  <cp:lastModifiedBy>Harish Yadav</cp:lastModifiedBy>
  <dcterms:created xsi:type="dcterms:W3CDTF">2023-09-01T20:11:33Z</dcterms:created>
  <dcterms:modified xsi:type="dcterms:W3CDTF">2026-10-08T12:54:02Z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1b86a10512f54c8ea6abd6302acb1148_23</vt:lpwstr>
  </property>
</Properties>
</file>